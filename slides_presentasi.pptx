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6928"/>
    <p:restoredTop sz="94657"/>
  </p:normalViewPr>
  <p:slideViewPr>
    <p:cSldViewPr snapToGrid="0" snapToObjects="1">
      <p:cViewPr varScale="1">
        <p:scale>
          <a:sx n="143" d="100"/>
          <a:sy n="143" d="100"/>
        </p:scale>
        <p:origin x="200" y="5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6795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Selamat pagi/siang Bapak/Ibu Dosen Penguji.</a:t>
            </a:r>
          </a:p>
          <a:p>
            <a:endParaRPr/>
          </a:p>
          <a:p>
            <a:r>
              <a:t>Pada hari ini saya akan mempresentasikan proyek tugas akhir SBDT saya yang berjudul 'Rancang Bangun Sistem Kasir Franchise POS Terdistribusi'. Sistem ini dibuat untuk menyimulasikan arsitektur basis data multi-cabang ritel modern menggunakan teknologi PostgreSQL dan Docker.</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Latar belakang proyek ini adalah kerentanan sistem terpusat pada ritel multi-cabang. Jika internet mati, kasir lumpuh. Solusinya adalah Sistem Basis Data Terdistribusi, di mana tiap cabang memiliki database lokal mandiri agar kasir tetap bisa melayani transaksi secara offline.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Ada 5 pilar teori SBDT yang kami terapkan secara nyata: Otonomi lokal cabang, replikasi logikal data produk, fragmentasi horizontal data transaksi, eventual consistency untuk sinkronisasi tertunda, dan fault tolerance agar sistem kasir tidak terganggu meski server pusat offline.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ini mencantumkan referensi literatur akademik dan dokumentasi resmi yang kami gunakan. Kami mengacu pada buku utama SBDT karangan Özsu dan Valduriez untuk dasar fragmentasi dan replikasi data. Untuk aspek teknisnya, kami menggunakan dokumentasi resmi PostgreSQL untuk replikasi logikal, spesifikasi standardisasi RFC 4122 untuk UUID, dan panduan Docker untuk jaringan virtual kontainer.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Untuk topologi sistem, kami menggunakan Docker Compose. Ada 3 kontainer database PostgreSQL yang saling terhubung dalam satu virtual network Docker. Replikasi katalog berjalan otomatis secara database-level dari Pusat ke JKT dan BDG. Sementara data transaksi dari cabang ditarik secara asinkron ke Pusat oleh Sync Agent berbasis Node.js yang berjalan setiap 1 detik.</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Pada desain skema, tabel produk memiliki struktur yang sama di setiap node. Namun tabel transaksi menggunakan fragmentasi horizontal. Untuk menghindari bentrokan ID saat transaksi cabang digabungkan di Pusat, kami menggunakan UUID. Dari sisi pemrograman, aplikasi web ditulis dengan Node.js menggunakan arsitektur clean code modular untuk memisahkan konfigurasi, utilitas database helper, dan route handler.</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ini menunjukkan antarmuka Dashboard Pusat (HQ) yang diakses di port 8080. Dashboard ini berhasil menggabungkan total omzet global dari kedua cabang, yaitu sebesar Rp178.000 dengan rincian Rp135.000 dari cabang Jakarta dan Rp43.000 dari cabang Bandung. Form di dashboard ini juga berfungsi untuk menambah produk baru ke katalog pusat.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 slide ini, kami menampilkan antarmuka Kasir Cabang Jakarta di kiri dan Bandung di kanan. Dapat dilihat bahwa riwayat nota penjualan yang tercantum hanya menampilkan transaksi lokal di cabang masing-masing. Ini membuktikan penerapan fragmentasi horizontal, di mana data transaksi didistribusikan secara fisik berdasarkan wilayah cabang.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ini menunjukkan inspeksi tabel database menggunakan pgAdmin. Pada tabel detail_transaksi di sebelah kiri, terlihat bahwa Primary Key dan Foreign Key menggunakan format UUID 36-karakter yang dijamin unik di seluruh node. Sedangkan pada gambar kanan, tabel produk di database cabang menampilkan data harga yang sudah ter-replikasi secara utuh.</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Terakhir, uji coba sistem membuktikan fungsionalitas SBDT berjalan 100%. Kami mendemonstrasikan replikasi logikal dari Pusat ke Cabang, fragmentasi horizontal di level kasir, serta toleransi kesalahan (mode offline) di mana kasir cabang tetap dapat melayani penjualan saat database Pusat down, dan data akan secara otomatis tersinkronisasi 1 detik setelah koneksi database Pusat pulih kembali.</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Kesimpulannya, proyek SBDT ini berhasil membuktikan bahwa arsitektur terdistribusi dapat menyelesaikan kendala konektivitas dan latensi pada bisnis retail multi-cabang. Terima kasih atas perhatian Bapak/Ibu Dosen, sekarang saya siap menerima pertanyaan atau saran di sesi tanya jawab.</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7/18/26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7/18/26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7/18/26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7/18/26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7/18/26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7/18/26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457200" y="1371600"/>
            <a:ext cx="8229600" cy="1115690"/>
          </a:xfrm>
          <a:prstGeom prst="rect">
            <a:avLst/>
          </a:prstGeom>
          <a:noFill/>
        </p:spPr>
        <p:txBody>
          <a:bodyPr wrap="square">
            <a:spAutoFit/>
          </a:bodyPr>
          <a:lstStyle/>
          <a:p>
            <a:pPr algn="ctr">
              <a:defRPr sz="3600" b="1">
                <a:solidFill>
                  <a:srgbClr val="4F46E5"/>
                </a:solidFill>
                <a:latin typeface="Inter"/>
              </a:defRPr>
            </a:pPr>
            <a:r>
              <a:rPr dirty="0" err="1"/>
              <a:t>Sistem</a:t>
            </a:r>
            <a:r>
              <a:rPr dirty="0"/>
              <a:t> </a:t>
            </a:r>
            <a:r>
              <a:rPr dirty="0" err="1"/>
              <a:t>Kasir</a:t>
            </a:r>
            <a:r>
              <a:rPr dirty="0"/>
              <a:t> </a:t>
            </a:r>
            <a:r>
              <a:rPr dirty="0" err="1"/>
              <a:t>Terdistribusi</a:t>
            </a:r>
            <a:endParaRPr dirty="0"/>
          </a:p>
          <a:p>
            <a:pPr algn="ctr">
              <a:spcBef>
                <a:spcPts val="1500"/>
              </a:spcBef>
              <a:defRPr sz="1800">
                <a:solidFill>
                  <a:srgbClr val="4A5568"/>
                </a:solidFill>
                <a:latin typeface="Inter"/>
              </a:defRPr>
            </a:pPr>
            <a:r>
              <a:rPr dirty="0" err="1"/>
              <a:t>Implementasi</a:t>
            </a:r>
            <a:r>
              <a:rPr dirty="0"/>
              <a:t> </a:t>
            </a:r>
            <a:r>
              <a:rPr dirty="0" err="1"/>
              <a:t>Replikasi</a:t>
            </a:r>
            <a:r>
              <a:rPr dirty="0"/>
              <a:t> </a:t>
            </a:r>
            <a:r>
              <a:rPr dirty="0" err="1"/>
              <a:t>Logikal</a:t>
            </a:r>
            <a:r>
              <a:rPr dirty="0"/>
              <a:t> &amp; </a:t>
            </a:r>
            <a:r>
              <a:rPr dirty="0" err="1"/>
              <a:t>Fragmentasi</a:t>
            </a:r>
            <a:r>
              <a:rPr dirty="0"/>
              <a:t> Horizontal (SBDT)</a:t>
            </a:r>
          </a:p>
        </p:txBody>
      </p:sp>
      <p:sp>
        <p:nvSpPr>
          <p:cNvPr id="3" name="TextBox 2"/>
          <p:cNvSpPr txBox="1"/>
          <p:nvPr/>
        </p:nvSpPr>
        <p:spPr>
          <a:xfrm>
            <a:off x="914400" y="3840480"/>
            <a:ext cx="7315200" cy="923330"/>
          </a:xfrm>
          <a:prstGeom prst="rect">
            <a:avLst/>
          </a:prstGeom>
          <a:noFill/>
        </p:spPr>
        <p:txBody>
          <a:bodyPr wrap="square">
            <a:spAutoFit/>
          </a:bodyPr>
          <a:lstStyle/>
          <a:p>
            <a:endParaRPr dirty="0"/>
          </a:p>
          <a:p>
            <a:pPr algn="ctr">
              <a:defRPr sz="1200">
                <a:solidFill>
                  <a:srgbClr val="718096"/>
                </a:solidFill>
                <a:latin typeface="Inter"/>
              </a:defRPr>
            </a:pPr>
            <a:r>
              <a:rPr dirty="0"/>
              <a:t>Mata </a:t>
            </a:r>
            <a:r>
              <a:rPr dirty="0" err="1"/>
              <a:t>Kuliah</a:t>
            </a:r>
            <a:r>
              <a:rPr dirty="0"/>
              <a:t>: </a:t>
            </a:r>
            <a:r>
              <a:rPr dirty="0" err="1"/>
              <a:t>Sistem</a:t>
            </a:r>
            <a:r>
              <a:rPr dirty="0"/>
              <a:t> Basis Data </a:t>
            </a:r>
            <a:r>
              <a:rPr dirty="0" err="1"/>
              <a:t>Terdistribusi</a:t>
            </a:r>
            <a:r>
              <a:rPr dirty="0"/>
              <a:t> (SBDT)</a:t>
            </a:r>
          </a:p>
          <a:p>
            <a:pPr algn="ctr">
              <a:defRPr sz="1200">
                <a:solidFill>
                  <a:srgbClr val="718096"/>
                </a:solidFill>
                <a:latin typeface="Inter"/>
              </a:defRPr>
            </a:pPr>
            <a:r>
              <a:rPr dirty="0" err="1"/>
              <a:t>Penyusun</a:t>
            </a:r>
            <a:r>
              <a:rPr dirty="0"/>
              <a:t>: </a:t>
            </a:r>
            <a:r>
              <a:rPr lang="en-US" dirty="0"/>
              <a:t>Adam </a:t>
            </a:r>
            <a:r>
              <a:rPr lang="en-US" dirty="0" err="1"/>
              <a:t>Bagaskara</a:t>
            </a:r>
            <a:r>
              <a:rPr dirty="0"/>
              <a:t> </a:t>
            </a:r>
            <a:r>
              <a:rPr lang="en-US" dirty="0"/>
              <a:t>(20220801522)</a:t>
            </a:r>
            <a:endParaRPr dirty="0"/>
          </a:p>
          <a:p>
            <a:pPr algn="ctr">
              <a:defRPr sz="1200">
                <a:solidFill>
                  <a:srgbClr val="718096"/>
                </a:solidFill>
                <a:latin typeface="Inter"/>
              </a:defRPr>
            </a:pPr>
            <a:r>
              <a:rPr dirty="0"/>
              <a:t>Teknik </a:t>
            </a:r>
            <a:r>
              <a:rPr dirty="0" err="1"/>
              <a:t>Informatika</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Latar Belakang Masalah</a:t>
            </a:r>
          </a:p>
        </p:txBody>
      </p:sp>
      <p:sp>
        <p:nvSpPr>
          <p:cNvPr id="3" name="TextBox 2"/>
          <p:cNvSpPr txBox="1"/>
          <p:nvPr/>
        </p:nvSpPr>
        <p:spPr>
          <a:xfrm>
            <a:off x="685800" y="1371600"/>
            <a:ext cx="7772400" cy="3474720"/>
          </a:xfrm>
          <a:prstGeom prst="rect">
            <a:avLst/>
          </a:prstGeom>
          <a:noFill/>
        </p:spPr>
        <p:txBody>
          <a:bodyPr wrap="square">
            <a:spAutoFit/>
          </a:bodyPr>
          <a:lstStyle/>
          <a:p>
            <a:pPr>
              <a:spcAft>
                <a:spcPts val="1200"/>
              </a:spcAft>
            </a:pPr>
            <a:r>
              <a:rPr sz="1400" b="1">
                <a:solidFill>
                  <a:srgbClr val="1F2937"/>
                </a:solidFill>
                <a:latin typeface="Inter"/>
              </a:rPr>
              <a:t>Tantangan Bisnis Franchise</a:t>
            </a:r>
            <a:r>
              <a:rPr sz="1400">
                <a:solidFill>
                  <a:srgbClr val="1F2937"/>
                </a:solidFill>
                <a:latin typeface="Inter"/>
              </a:rPr>
              <a:t>: Memiliki banyak cabang fisik (seperti Jakarta dan Bandung) yang harus beroperasi serentak.</a:t>
            </a:r>
          </a:p>
          <a:p>
            <a:pPr>
              <a:spcAft>
                <a:spcPts val="1200"/>
              </a:spcAft>
            </a:pPr>
            <a:r>
              <a:rPr sz="1400" b="1">
                <a:solidFill>
                  <a:srgbClr val="1F2937"/>
                </a:solidFill>
                <a:latin typeface="Inter"/>
              </a:rPr>
              <a:t>Masalah Sentralisasi</a:t>
            </a:r>
            <a:r>
              <a:rPr sz="1400">
                <a:solidFill>
                  <a:srgbClr val="1F2937"/>
                </a:solidFill>
                <a:latin typeface="Inter"/>
              </a:rPr>
              <a:t>: Koneksi internet mati atau server pusat down, menyebabkan operasional kasir cabang lumpuh total.</a:t>
            </a:r>
          </a:p>
          <a:p>
            <a:pPr>
              <a:spcAft>
                <a:spcPts val="1200"/>
              </a:spcAft>
            </a:pPr>
            <a:r>
              <a:rPr sz="1400" b="1">
                <a:solidFill>
                  <a:srgbClr val="1F2937"/>
                </a:solidFill>
                <a:latin typeface="Inter"/>
              </a:rPr>
              <a:t>Masalah Latensi</a:t>
            </a:r>
            <a:r>
              <a:rPr sz="1400">
                <a:solidFill>
                  <a:srgbClr val="1F2937"/>
                </a:solidFill>
                <a:latin typeface="Inter"/>
              </a:rPr>
              <a:t>: Jarak database jauh, sehingga respon transaksi melambat dan memicu antrean kasir.</a:t>
            </a:r>
          </a:p>
          <a:p>
            <a:pPr>
              <a:spcAft>
                <a:spcPts val="1200"/>
              </a:spcAft>
            </a:pPr>
            <a:r>
              <a:rPr sz="1400" b="1">
                <a:solidFill>
                  <a:srgbClr val="1F2937"/>
                </a:solidFill>
                <a:latin typeface="Inter"/>
              </a:rPr>
              <a:t>Solusi SBDT (Distributed Database)</a:t>
            </a:r>
            <a:r>
              <a:rPr sz="1400">
                <a:solidFill>
                  <a:srgbClr val="1F2937"/>
                </a:solidFill>
                <a:latin typeface="Inter"/>
              </a:rPr>
              <a:t>: Setiap cabang memiliki database lokal sendiri agar kasir tetap jalan lancar walau offline.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Referensi Teori SBDT (Pilar Utama)</a:t>
            </a:r>
          </a:p>
        </p:txBody>
      </p:sp>
      <p:sp>
        <p:nvSpPr>
          <p:cNvPr id="3" name="TextBox 2"/>
          <p:cNvSpPr txBox="1"/>
          <p:nvPr/>
        </p:nvSpPr>
        <p:spPr>
          <a:xfrm>
            <a:off x="685800" y="1371600"/>
            <a:ext cx="7772400" cy="3474720"/>
          </a:xfrm>
          <a:prstGeom prst="rect">
            <a:avLst/>
          </a:prstGeom>
          <a:noFill/>
        </p:spPr>
        <p:txBody>
          <a:bodyPr wrap="square">
            <a:spAutoFit/>
          </a:bodyPr>
          <a:lstStyle/>
          <a:p>
            <a:pPr>
              <a:spcAft>
                <a:spcPts val="1200"/>
              </a:spcAft>
            </a:pPr>
            <a:r>
              <a:rPr sz="1400">
                <a:solidFill>
                  <a:srgbClr val="1F2937"/>
                </a:solidFill>
                <a:latin typeface="Inter"/>
              </a:rPr>
              <a:t>1. </a:t>
            </a:r>
            <a:r>
              <a:rPr sz="1400" b="1">
                <a:solidFill>
                  <a:srgbClr val="1F2937"/>
                </a:solidFill>
                <a:latin typeface="Inter"/>
              </a:rPr>
              <a:t>Otonomi Lokal (Local Autonomy)</a:t>
            </a:r>
            <a:r>
              <a:rPr sz="1400">
                <a:solidFill>
                  <a:srgbClr val="1F2937"/>
                </a:solidFill>
                <a:latin typeface="Inter"/>
              </a:rPr>
              <a:t>: Cabang mandiri mengelola transaksi lokal tanpa bergantung server pusat.</a:t>
            </a:r>
          </a:p>
          <a:p>
            <a:pPr>
              <a:spcAft>
                <a:spcPts val="1200"/>
              </a:spcAft>
            </a:pPr>
            <a:r>
              <a:rPr sz="1400">
                <a:solidFill>
                  <a:srgbClr val="1F2937"/>
                </a:solidFill>
                <a:latin typeface="Inter"/>
              </a:rPr>
              <a:t>2. </a:t>
            </a:r>
            <a:r>
              <a:rPr sz="1400" b="1">
                <a:solidFill>
                  <a:srgbClr val="1F2937"/>
                </a:solidFill>
                <a:latin typeface="Inter"/>
              </a:rPr>
              <a:t>Replikasi Logikal (Logical Replication)</a:t>
            </a:r>
            <a:r>
              <a:rPr sz="1400">
                <a:solidFill>
                  <a:srgbClr val="1F2937"/>
                </a:solidFill>
                <a:latin typeface="Inter"/>
              </a:rPr>
              <a:t>: Sinkronisasi katalog produk otomatis dari Pusat ke Cabang.</a:t>
            </a:r>
          </a:p>
          <a:p>
            <a:pPr>
              <a:spcAft>
                <a:spcPts val="1200"/>
              </a:spcAft>
            </a:pPr>
            <a:r>
              <a:rPr sz="1400">
                <a:solidFill>
                  <a:srgbClr val="1F2937"/>
                </a:solidFill>
                <a:latin typeface="Inter"/>
              </a:rPr>
              <a:t>3. </a:t>
            </a:r>
            <a:r>
              <a:rPr sz="1400" b="1">
                <a:solidFill>
                  <a:srgbClr val="1F2937"/>
                </a:solidFill>
                <a:latin typeface="Inter"/>
              </a:rPr>
              <a:t>Fragmentasi Horizontal (Horizontal Fragmentation)</a:t>
            </a:r>
            <a:r>
              <a:rPr sz="1400">
                <a:solidFill>
                  <a:srgbClr val="1F2937"/>
                </a:solidFill>
                <a:latin typeface="Inter"/>
              </a:rPr>
              <a:t>: Pemisahan data transaksi secara fisik berdasarkan lokasi cabang (JKT &amp; BDG).</a:t>
            </a:r>
          </a:p>
          <a:p>
            <a:pPr>
              <a:spcAft>
                <a:spcPts val="1200"/>
              </a:spcAft>
            </a:pPr>
            <a:r>
              <a:rPr sz="1400">
                <a:solidFill>
                  <a:srgbClr val="1F2937"/>
                </a:solidFill>
                <a:latin typeface="Inter"/>
              </a:rPr>
              <a:t>4. </a:t>
            </a:r>
            <a:r>
              <a:rPr sz="1400" b="1">
                <a:solidFill>
                  <a:srgbClr val="1F2937"/>
                </a:solidFill>
                <a:latin typeface="Inter"/>
              </a:rPr>
              <a:t>Eventual Consistency</a:t>
            </a:r>
            <a:r>
              <a:rPr sz="1400">
                <a:solidFill>
                  <a:srgbClr val="1F2937"/>
                </a:solidFill>
                <a:latin typeface="Inter"/>
              </a:rPr>
              <a:t>: Data transaksi otomatis sinkron ke Pusat begitu koneksi internet pulih.</a:t>
            </a:r>
          </a:p>
          <a:p>
            <a:pPr>
              <a:spcAft>
                <a:spcPts val="1200"/>
              </a:spcAft>
            </a:pPr>
            <a:r>
              <a:rPr sz="1400">
                <a:solidFill>
                  <a:srgbClr val="1F2937"/>
                </a:solidFill>
                <a:latin typeface="Inter"/>
              </a:rPr>
              <a:t>5. </a:t>
            </a:r>
            <a:r>
              <a:rPr sz="1400" b="1">
                <a:solidFill>
                  <a:srgbClr val="1F2937"/>
                </a:solidFill>
                <a:latin typeface="Inter"/>
              </a:rPr>
              <a:t>Toleransi Gangguan (Fault Tolerance)</a:t>
            </a:r>
            <a:r>
              <a:rPr sz="1400">
                <a:solidFill>
                  <a:srgbClr val="1F2937"/>
                </a:solidFill>
                <a:latin typeface="Inter"/>
              </a:rPr>
              <a:t>: Sistem kasir tetap aktif berjalan meski server Pusat sedang mati.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Daftar Referensi Pustaka</a:t>
            </a:r>
          </a:p>
        </p:txBody>
      </p:sp>
      <p:sp>
        <p:nvSpPr>
          <p:cNvPr id="3" name="TextBox 2"/>
          <p:cNvSpPr txBox="1"/>
          <p:nvPr/>
        </p:nvSpPr>
        <p:spPr>
          <a:xfrm>
            <a:off x="685800" y="1371600"/>
            <a:ext cx="7772400" cy="2431435"/>
          </a:xfrm>
          <a:prstGeom prst="rect">
            <a:avLst/>
          </a:prstGeom>
          <a:noFill/>
        </p:spPr>
        <p:txBody>
          <a:bodyPr wrap="square">
            <a:spAutoFit/>
          </a:bodyPr>
          <a:lstStyle/>
          <a:p>
            <a:pPr>
              <a:spcAft>
                <a:spcPts val="1200"/>
              </a:spcAft>
            </a:pPr>
            <a:r>
              <a:rPr sz="1400" b="1" dirty="0" err="1">
                <a:solidFill>
                  <a:srgbClr val="1F2937"/>
                </a:solidFill>
                <a:latin typeface="Inter"/>
              </a:rPr>
              <a:t>Buku</a:t>
            </a:r>
            <a:r>
              <a:rPr sz="1400" b="1" dirty="0">
                <a:solidFill>
                  <a:srgbClr val="1F2937"/>
                </a:solidFill>
                <a:latin typeface="Inter"/>
              </a:rPr>
              <a:t> Panduan </a:t>
            </a:r>
            <a:r>
              <a:rPr sz="1400" b="1" dirty="0" err="1">
                <a:solidFill>
                  <a:srgbClr val="1F2937"/>
                </a:solidFill>
                <a:latin typeface="Inter"/>
              </a:rPr>
              <a:t>Akademik</a:t>
            </a:r>
            <a:r>
              <a:rPr sz="1400" b="1" dirty="0">
                <a:solidFill>
                  <a:srgbClr val="1F2937"/>
                </a:solidFill>
                <a:latin typeface="Inter"/>
              </a:rPr>
              <a:t> SBDT</a:t>
            </a:r>
            <a:r>
              <a:rPr sz="1400" dirty="0">
                <a:solidFill>
                  <a:srgbClr val="1F2937"/>
                </a:solidFill>
                <a:latin typeface="Inter"/>
              </a:rPr>
              <a:t>: </a:t>
            </a:r>
            <a:r>
              <a:rPr sz="1400" dirty="0" err="1">
                <a:solidFill>
                  <a:srgbClr val="1F2937"/>
                </a:solidFill>
                <a:latin typeface="Inter"/>
              </a:rPr>
              <a:t>Özsu</a:t>
            </a:r>
            <a:r>
              <a:rPr sz="1400" dirty="0">
                <a:solidFill>
                  <a:srgbClr val="1F2937"/>
                </a:solidFill>
                <a:latin typeface="Inter"/>
              </a:rPr>
              <a:t>, M. T., &amp; </a:t>
            </a:r>
            <a:r>
              <a:rPr sz="1400" dirty="0" err="1">
                <a:solidFill>
                  <a:srgbClr val="1F2937"/>
                </a:solidFill>
                <a:latin typeface="Inter"/>
              </a:rPr>
              <a:t>Valduriez</a:t>
            </a:r>
            <a:r>
              <a:rPr sz="1400" dirty="0">
                <a:solidFill>
                  <a:srgbClr val="1F2937"/>
                </a:solidFill>
                <a:latin typeface="Inter"/>
              </a:rPr>
              <a:t>, P. (2020). Principles of Distributed Database Systems (</a:t>
            </a:r>
            <a:r>
              <a:rPr sz="1400" dirty="0" err="1">
                <a:solidFill>
                  <a:srgbClr val="1F2937"/>
                </a:solidFill>
                <a:latin typeface="Inter"/>
              </a:rPr>
              <a:t>Buku</a:t>
            </a:r>
            <a:r>
              <a:rPr sz="1400" dirty="0">
                <a:solidFill>
                  <a:srgbClr val="1F2937"/>
                </a:solidFill>
                <a:latin typeface="Inter"/>
              </a:rPr>
              <a:t> </a:t>
            </a:r>
            <a:r>
              <a:rPr sz="1400" dirty="0" err="1">
                <a:solidFill>
                  <a:srgbClr val="1F2937"/>
                </a:solidFill>
                <a:latin typeface="Inter"/>
              </a:rPr>
              <a:t>acuan</a:t>
            </a:r>
            <a:r>
              <a:rPr sz="1400" dirty="0">
                <a:solidFill>
                  <a:srgbClr val="1F2937"/>
                </a:solidFill>
                <a:latin typeface="Inter"/>
              </a:rPr>
              <a:t> </a:t>
            </a:r>
            <a:r>
              <a:rPr sz="1400" dirty="0" err="1">
                <a:solidFill>
                  <a:srgbClr val="1F2937"/>
                </a:solidFill>
                <a:latin typeface="Inter"/>
              </a:rPr>
              <a:t>utama</a:t>
            </a:r>
            <a:r>
              <a:rPr sz="1400" dirty="0">
                <a:solidFill>
                  <a:srgbClr val="1F2937"/>
                </a:solidFill>
                <a:latin typeface="Inter"/>
              </a:rPr>
              <a:t> </a:t>
            </a:r>
            <a:r>
              <a:rPr sz="1400" dirty="0" err="1">
                <a:solidFill>
                  <a:srgbClr val="1F2937"/>
                </a:solidFill>
                <a:latin typeface="Inter"/>
              </a:rPr>
              <a:t>teori</a:t>
            </a:r>
            <a:r>
              <a:rPr sz="1400" dirty="0">
                <a:solidFill>
                  <a:srgbClr val="1F2937"/>
                </a:solidFill>
                <a:latin typeface="Inter"/>
              </a:rPr>
              <a:t> SBDT universitas).</a:t>
            </a:r>
          </a:p>
          <a:p>
            <a:pPr>
              <a:spcAft>
                <a:spcPts val="1200"/>
              </a:spcAft>
            </a:pPr>
            <a:r>
              <a:rPr sz="1400" b="1" dirty="0" err="1">
                <a:solidFill>
                  <a:srgbClr val="1F2937"/>
                </a:solidFill>
                <a:latin typeface="Inter"/>
              </a:rPr>
              <a:t>Teori</a:t>
            </a:r>
            <a:r>
              <a:rPr sz="1400" b="1" dirty="0">
                <a:solidFill>
                  <a:srgbClr val="1F2937"/>
                </a:solidFill>
                <a:latin typeface="Inter"/>
              </a:rPr>
              <a:t> Basis Data </a:t>
            </a:r>
            <a:r>
              <a:rPr sz="1400" b="1" dirty="0" err="1">
                <a:solidFill>
                  <a:srgbClr val="1F2937"/>
                </a:solidFill>
                <a:latin typeface="Inter"/>
              </a:rPr>
              <a:t>Relasional</a:t>
            </a:r>
            <a:r>
              <a:rPr sz="1400" dirty="0">
                <a:solidFill>
                  <a:srgbClr val="1F2937"/>
                </a:solidFill>
                <a:latin typeface="Inter"/>
              </a:rPr>
              <a:t>: </a:t>
            </a:r>
            <a:r>
              <a:rPr sz="1400" dirty="0" err="1">
                <a:solidFill>
                  <a:srgbClr val="1F2937"/>
                </a:solidFill>
                <a:latin typeface="Inter"/>
              </a:rPr>
              <a:t>Elmasri</a:t>
            </a:r>
            <a:r>
              <a:rPr sz="1400" dirty="0">
                <a:solidFill>
                  <a:srgbClr val="1F2937"/>
                </a:solidFill>
                <a:latin typeface="Inter"/>
              </a:rPr>
              <a:t>, R., &amp; </a:t>
            </a:r>
            <a:r>
              <a:rPr sz="1400" dirty="0" err="1">
                <a:solidFill>
                  <a:srgbClr val="1F2937"/>
                </a:solidFill>
                <a:latin typeface="Inter"/>
              </a:rPr>
              <a:t>Navathe</a:t>
            </a:r>
            <a:r>
              <a:rPr sz="1400" dirty="0">
                <a:solidFill>
                  <a:srgbClr val="1F2937"/>
                </a:solidFill>
                <a:latin typeface="Inter"/>
              </a:rPr>
              <a:t>, S. B. (2015). Fundamentals of Database Systems.</a:t>
            </a:r>
          </a:p>
          <a:p>
            <a:pPr>
              <a:spcAft>
                <a:spcPts val="1200"/>
              </a:spcAft>
            </a:pPr>
            <a:r>
              <a:rPr sz="1400" b="1" dirty="0" err="1">
                <a:solidFill>
                  <a:srgbClr val="1F2937"/>
                </a:solidFill>
                <a:latin typeface="Inter"/>
              </a:rPr>
              <a:t>Replikasi</a:t>
            </a:r>
            <a:r>
              <a:rPr sz="1400" b="1" dirty="0">
                <a:solidFill>
                  <a:srgbClr val="1F2937"/>
                </a:solidFill>
                <a:latin typeface="Inter"/>
              </a:rPr>
              <a:t> </a:t>
            </a:r>
            <a:r>
              <a:rPr sz="1400" b="1" dirty="0" err="1">
                <a:solidFill>
                  <a:srgbClr val="1F2937"/>
                </a:solidFill>
                <a:latin typeface="Inter"/>
              </a:rPr>
              <a:t>Logikal</a:t>
            </a:r>
            <a:r>
              <a:rPr sz="1400" b="1" dirty="0">
                <a:solidFill>
                  <a:srgbClr val="1F2937"/>
                </a:solidFill>
                <a:latin typeface="Inter"/>
              </a:rPr>
              <a:t> Database</a:t>
            </a:r>
            <a:r>
              <a:rPr sz="1400" dirty="0">
                <a:solidFill>
                  <a:srgbClr val="1F2937"/>
                </a:solidFill>
                <a:latin typeface="Inter"/>
              </a:rPr>
              <a:t>: PostgreSQL Global Development Group. Documentation: Logical Replication (Publication/Subscription).</a:t>
            </a:r>
          </a:p>
          <a:p>
            <a:pPr>
              <a:spcAft>
                <a:spcPts val="1200"/>
              </a:spcAft>
            </a:pPr>
            <a:r>
              <a:rPr sz="1400" b="1" dirty="0" err="1">
                <a:solidFill>
                  <a:srgbClr val="1F2937"/>
                </a:solidFill>
                <a:latin typeface="Inter"/>
              </a:rPr>
              <a:t>Standardisasi</a:t>
            </a:r>
            <a:r>
              <a:rPr sz="1400" b="1" dirty="0">
                <a:solidFill>
                  <a:srgbClr val="1F2937"/>
                </a:solidFill>
                <a:latin typeface="Inter"/>
              </a:rPr>
              <a:t> ID </a:t>
            </a:r>
            <a:r>
              <a:rPr sz="1400" b="1" dirty="0" err="1">
                <a:solidFill>
                  <a:srgbClr val="1F2937"/>
                </a:solidFill>
                <a:latin typeface="Inter"/>
              </a:rPr>
              <a:t>Terdistribusi</a:t>
            </a:r>
            <a:r>
              <a:rPr sz="1400" dirty="0">
                <a:solidFill>
                  <a:srgbClr val="1F2937"/>
                </a:solidFill>
                <a:latin typeface="Inter"/>
              </a:rPr>
              <a:t>: RFC 4122 Standard Specification </a:t>
            </a:r>
            <a:r>
              <a:rPr sz="1400" dirty="0" err="1">
                <a:solidFill>
                  <a:srgbClr val="1F2937"/>
                </a:solidFill>
                <a:latin typeface="Inter"/>
              </a:rPr>
              <a:t>untuk</a:t>
            </a:r>
            <a:r>
              <a:rPr sz="1400" dirty="0">
                <a:solidFill>
                  <a:srgbClr val="1F2937"/>
                </a:solidFill>
                <a:latin typeface="Inter"/>
              </a:rPr>
              <a:t> Universally Unique </a:t>
            </a:r>
            <a:r>
              <a:rPr sz="1400" dirty="0" err="1">
                <a:solidFill>
                  <a:srgbClr val="1F2937"/>
                </a:solidFill>
                <a:latin typeface="Inter"/>
              </a:rPr>
              <a:t>IDentifier</a:t>
            </a:r>
            <a:r>
              <a:rPr sz="1400" dirty="0">
                <a:solidFill>
                  <a:srgbClr val="1F2937"/>
                </a:solidFill>
                <a:latin typeface="Inter"/>
              </a:rPr>
              <a:t> (UUID).</a:t>
            </a:r>
          </a:p>
          <a:p>
            <a:pPr>
              <a:spcAft>
                <a:spcPts val="1200"/>
              </a:spcAft>
            </a:pPr>
            <a:r>
              <a:rPr sz="1400" b="1" dirty="0" err="1">
                <a:solidFill>
                  <a:srgbClr val="1F2937"/>
                </a:solidFill>
                <a:latin typeface="Inter"/>
              </a:rPr>
              <a:t>Virtualisasi</a:t>
            </a:r>
            <a:r>
              <a:rPr sz="1400" b="1" dirty="0">
                <a:solidFill>
                  <a:srgbClr val="1F2937"/>
                </a:solidFill>
                <a:latin typeface="Inter"/>
              </a:rPr>
              <a:t> Node </a:t>
            </a:r>
            <a:r>
              <a:rPr sz="1400" b="1" dirty="0" err="1">
                <a:solidFill>
                  <a:srgbClr val="1F2937"/>
                </a:solidFill>
                <a:latin typeface="Inter"/>
              </a:rPr>
              <a:t>Terdistribusi</a:t>
            </a:r>
            <a:r>
              <a:rPr sz="1400" dirty="0">
                <a:solidFill>
                  <a:srgbClr val="1F2937"/>
                </a:solidFill>
                <a:latin typeface="Inter"/>
              </a:rPr>
              <a:t>: Docker Compose Network &amp; Container Isolation Documentation.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Arsitektur Jaringan &amp; Topologi (Docker)</a:t>
            </a:r>
          </a:p>
        </p:txBody>
      </p:sp>
      <p:sp>
        <p:nvSpPr>
          <p:cNvPr id="3" name="TextBox 2"/>
          <p:cNvSpPr txBox="1"/>
          <p:nvPr/>
        </p:nvSpPr>
        <p:spPr>
          <a:xfrm>
            <a:off x="685800" y="1371600"/>
            <a:ext cx="7772400" cy="3474720"/>
          </a:xfrm>
          <a:prstGeom prst="rect">
            <a:avLst/>
          </a:prstGeom>
          <a:noFill/>
        </p:spPr>
        <p:txBody>
          <a:bodyPr wrap="square">
            <a:spAutoFit/>
          </a:bodyPr>
          <a:lstStyle/>
          <a:p>
            <a:pPr>
              <a:spcAft>
                <a:spcPts val="1200"/>
              </a:spcAft>
            </a:pPr>
            <a:r>
              <a:rPr sz="1400" b="1">
                <a:solidFill>
                  <a:srgbClr val="1F2937"/>
                </a:solidFill>
                <a:latin typeface="Inter"/>
              </a:rPr>
              <a:t>Pusat HQ (db_pusat)</a:t>
            </a:r>
            <a:r>
              <a:rPr sz="1400">
                <a:solidFill>
                  <a:srgbClr val="1F2937"/>
                </a:solidFill>
                <a:latin typeface="Inter"/>
              </a:rPr>
              <a:t>: Menampung skema database `pos_pusat` di port host 5431.</a:t>
            </a:r>
          </a:p>
          <a:p>
            <a:pPr>
              <a:spcAft>
                <a:spcPts val="1200"/>
              </a:spcAft>
            </a:pPr>
            <a:r>
              <a:rPr sz="1400" b="1">
                <a:solidFill>
                  <a:srgbClr val="1F2937"/>
                </a:solidFill>
                <a:latin typeface="Inter"/>
              </a:rPr>
              <a:t>Cabang Jakarta (db_cabang_jkt)</a:t>
            </a:r>
            <a:r>
              <a:rPr sz="1400">
                <a:solidFill>
                  <a:srgbClr val="1F2937"/>
                </a:solidFill>
                <a:latin typeface="Inter"/>
              </a:rPr>
              <a:t>: Menampung skema database `pos_jkt` di port host 5433.</a:t>
            </a:r>
          </a:p>
          <a:p>
            <a:pPr>
              <a:spcAft>
                <a:spcPts val="1200"/>
              </a:spcAft>
            </a:pPr>
            <a:r>
              <a:rPr sz="1400" b="1">
                <a:solidFill>
                  <a:srgbClr val="1F2937"/>
                </a:solidFill>
                <a:latin typeface="Inter"/>
              </a:rPr>
              <a:t>Cabang Bandung (db_cabang_bdg)</a:t>
            </a:r>
            <a:r>
              <a:rPr sz="1400">
                <a:solidFill>
                  <a:srgbClr val="1F2937"/>
                </a:solidFill>
                <a:latin typeface="Inter"/>
              </a:rPr>
              <a:t>: Menampung skema database `pos_bdg` di port host 5434.</a:t>
            </a:r>
          </a:p>
          <a:p>
            <a:pPr>
              <a:spcAft>
                <a:spcPts val="1200"/>
              </a:spcAft>
            </a:pPr>
            <a:r>
              <a:rPr sz="1400" b="1">
                <a:solidFill>
                  <a:srgbClr val="1F2937"/>
                </a:solidFill>
                <a:latin typeface="Inter"/>
              </a:rPr>
              <a:t>Sync Agent</a:t>
            </a:r>
            <a:r>
              <a:rPr sz="1400">
                <a:solidFill>
                  <a:srgbClr val="1F2937"/>
                </a:solidFill>
                <a:latin typeface="Inter"/>
              </a:rPr>
              <a:t>: Daemon pemindah data asinkron berbasis Node.js yang memantau &amp; mengirimkan transaksi non-synced ke pusat setiap 1 detik.</a:t>
            </a:r>
          </a:p>
          <a:p>
            <a:pPr>
              <a:spcAft>
                <a:spcPts val="1200"/>
              </a:spcAft>
            </a:pPr>
            <a:r>
              <a:rPr sz="1400" b="1">
                <a:solidFill>
                  <a:srgbClr val="1F2937"/>
                </a:solidFill>
                <a:latin typeface="Inter"/>
              </a:rPr>
              <a:t>pgAdmin 4</a:t>
            </a:r>
            <a:r>
              <a:rPr sz="1400">
                <a:solidFill>
                  <a:srgbClr val="1F2937"/>
                </a:solidFill>
                <a:latin typeface="Inter"/>
              </a:rPr>
              <a:t>: Web GUI terpusat untuk inspeksi visual data di semua node (Port 5050).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461665"/>
          </a:xfrm>
          <a:prstGeom prst="rect">
            <a:avLst/>
          </a:prstGeom>
          <a:noFill/>
        </p:spPr>
        <p:txBody>
          <a:bodyPr wrap="square">
            <a:spAutoFit/>
          </a:bodyPr>
          <a:lstStyle/>
          <a:p>
            <a:pPr>
              <a:defRPr sz="2400" b="1">
                <a:solidFill>
                  <a:srgbClr val="4F46E5"/>
                </a:solidFill>
                <a:latin typeface="Inter"/>
              </a:defRPr>
            </a:pPr>
            <a:r>
              <a:rPr dirty="0"/>
              <a:t>Skema Database &amp; </a:t>
            </a:r>
            <a:r>
              <a:rPr dirty="0" err="1"/>
              <a:t>Struktur</a:t>
            </a:r>
            <a:endParaRPr dirty="0"/>
          </a:p>
        </p:txBody>
      </p:sp>
      <p:sp>
        <p:nvSpPr>
          <p:cNvPr id="3" name="TextBox 2"/>
          <p:cNvSpPr txBox="1"/>
          <p:nvPr/>
        </p:nvSpPr>
        <p:spPr>
          <a:xfrm>
            <a:off x="685800" y="1371600"/>
            <a:ext cx="7772400" cy="3474720"/>
          </a:xfrm>
          <a:prstGeom prst="rect">
            <a:avLst/>
          </a:prstGeom>
          <a:noFill/>
        </p:spPr>
        <p:txBody>
          <a:bodyPr wrap="square">
            <a:spAutoFit/>
          </a:bodyPr>
          <a:lstStyle/>
          <a:p>
            <a:pPr>
              <a:spcAft>
                <a:spcPts val="1200"/>
              </a:spcAft>
            </a:pPr>
            <a:r>
              <a:rPr sz="1400" b="1">
                <a:solidFill>
                  <a:srgbClr val="1F2937"/>
                </a:solidFill>
                <a:latin typeface="Inter"/>
              </a:rPr>
              <a:t>Tabel Produk (Replikasi)</a:t>
            </a:r>
            <a:r>
              <a:rPr sz="1400">
                <a:solidFill>
                  <a:srgbClr val="1F2937"/>
                </a:solidFill>
                <a:latin typeface="Inter"/>
              </a:rPr>
              <a:t>: Struktur identik di semua cabang, di-update terpusat lalu direplikasikan otomatis.</a:t>
            </a:r>
          </a:p>
          <a:p>
            <a:pPr>
              <a:spcAft>
                <a:spcPts val="1200"/>
              </a:spcAft>
            </a:pPr>
            <a:r>
              <a:rPr sz="1400" b="1">
                <a:solidFill>
                  <a:srgbClr val="1F2937"/>
                </a:solidFill>
                <a:latin typeface="Inter"/>
              </a:rPr>
              <a:t>Tabel Transaksi (Fragmentasi)</a:t>
            </a:r>
            <a:r>
              <a:rPr sz="1400">
                <a:solidFill>
                  <a:srgbClr val="1F2937"/>
                </a:solidFill>
                <a:latin typeface="Inter"/>
              </a:rPr>
              <a:t>: Terfragmentasi secara horizontal. Menggunakan </a:t>
            </a:r>
            <a:r>
              <a:rPr sz="1400" b="1">
                <a:solidFill>
                  <a:srgbClr val="1F2937"/>
                </a:solidFill>
                <a:latin typeface="Inter"/>
              </a:rPr>
              <a:t>UUID</a:t>
            </a:r>
            <a:r>
              <a:rPr sz="1400">
                <a:solidFill>
                  <a:srgbClr val="1F2937"/>
                </a:solidFill>
                <a:latin typeface="Inter"/>
              </a:rPr>
              <a:t> sebagai Primary Key untuk mencegah bentrokan identitas saat digabungkan di database Pusat.</a:t>
            </a:r>
          </a:p>
          <a:p>
            <a:pPr>
              <a:spcAft>
                <a:spcPts val="1200"/>
              </a:spcAft>
            </a:pPr>
            <a:r>
              <a:rPr sz="1400" b="1">
                <a:solidFill>
                  <a:srgbClr val="1F2937"/>
                </a:solidFill>
                <a:latin typeface="Inter"/>
              </a:rPr>
              <a:t>Struktur Clean Code</a:t>
            </a:r>
            <a:r>
              <a:rPr sz="1400">
                <a:solidFill>
                  <a:srgbClr val="1F2937"/>
                </a:solidFill>
                <a:latin typeface="Inter"/>
              </a:rPr>
              <a:t>: Memisahkan file konfigurasi basis data (`db.js`), database helper query lifecycle (`db_helper.js`), dan route handler modular (`routes/kasir.js`, `routes/dashboard.js`).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Dashboard Pusat HQ (Konsolidasi Global)</a:t>
            </a:r>
          </a:p>
        </p:txBody>
      </p:sp>
      <p:sp>
        <p:nvSpPr>
          <p:cNvPr id="3" name="TextBox 2"/>
          <p:cNvSpPr txBox="1"/>
          <p:nvPr/>
        </p:nvSpPr>
        <p:spPr>
          <a:xfrm>
            <a:off x="685800" y="1280160"/>
            <a:ext cx="3474720" cy="3474720"/>
          </a:xfrm>
          <a:prstGeom prst="rect">
            <a:avLst/>
          </a:prstGeom>
          <a:noFill/>
        </p:spPr>
        <p:txBody>
          <a:bodyPr wrap="square">
            <a:spAutoFit/>
          </a:bodyPr>
          <a:lstStyle/>
          <a:p>
            <a:pPr>
              <a:spcAft>
                <a:spcPts val="1000"/>
              </a:spcAft>
            </a:pPr>
            <a:r>
              <a:rPr sz="1200">
                <a:solidFill>
                  <a:srgbClr val="1F2937"/>
                </a:solidFill>
                <a:latin typeface="Inter"/>
              </a:rPr>
              <a:t>Menampilkan </a:t>
            </a:r>
            <a:r>
              <a:rPr sz="1200" b="1">
                <a:solidFill>
                  <a:srgbClr val="1F2937"/>
                </a:solidFill>
                <a:latin typeface="Inter"/>
              </a:rPr>
              <a:t>Total Omzet Global</a:t>
            </a:r>
            <a:r>
              <a:rPr sz="1200">
                <a:solidFill>
                  <a:srgbClr val="1F2937"/>
                </a:solidFill>
                <a:latin typeface="Inter"/>
              </a:rPr>
              <a:t> hasil penyatuan data JKT &amp; BDG.</a:t>
            </a:r>
          </a:p>
          <a:p>
            <a:pPr>
              <a:spcAft>
                <a:spcPts val="1000"/>
              </a:spcAft>
            </a:pPr>
            <a:r>
              <a:rPr sz="1200">
                <a:solidFill>
                  <a:srgbClr val="1F2937"/>
                </a:solidFill>
                <a:latin typeface="Inter"/>
              </a:rPr>
              <a:t>Statistik total nota masuk dan rincian omzet kontribusi tiap cabang.</a:t>
            </a:r>
          </a:p>
          <a:p>
            <a:pPr>
              <a:spcAft>
                <a:spcPts val="1000"/>
              </a:spcAft>
            </a:pPr>
            <a:r>
              <a:rPr sz="1200">
                <a:solidFill>
                  <a:srgbClr val="1F2937"/>
                </a:solidFill>
                <a:latin typeface="Inter"/>
              </a:rPr>
              <a:t>Master katalog data pusat terintegrasi dengan input penambahan produk.</a:t>
            </a:r>
          </a:p>
        </p:txBody>
      </p:sp>
      <p:pic>
        <p:nvPicPr>
          <p:cNvPr id="4" name="Picture 3" descr="media__1784224500819.png"/>
          <p:cNvPicPr>
            <a:picLocks noChangeAspect="1"/>
          </p:cNvPicPr>
          <p:nvPr/>
        </p:nvPicPr>
        <p:blipFill>
          <a:blip r:embed="rId3"/>
          <a:stretch>
            <a:fillRect/>
          </a:stretch>
        </p:blipFill>
        <p:spPr>
          <a:xfrm>
            <a:off x="4389120" y="1188720"/>
            <a:ext cx="4297680" cy="3200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Kasir Cabang Jakarta &amp; Bandung (Fragmentasi)</a:t>
            </a:r>
          </a:p>
        </p:txBody>
      </p:sp>
      <p:pic>
        <p:nvPicPr>
          <p:cNvPr id="3" name="Picture 2" descr="media__1784224505719.png"/>
          <p:cNvPicPr>
            <a:picLocks noChangeAspect="1"/>
          </p:cNvPicPr>
          <p:nvPr/>
        </p:nvPicPr>
        <p:blipFill>
          <a:blip r:embed="rId3"/>
          <a:stretch>
            <a:fillRect/>
          </a:stretch>
        </p:blipFill>
        <p:spPr>
          <a:xfrm>
            <a:off x="457200" y="1188720"/>
            <a:ext cx="3931920" cy="2560320"/>
          </a:xfrm>
          <a:prstGeom prst="rect">
            <a:avLst/>
          </a:prstGeom>
        </p:spPr>
      </p:pic>
      <p:pic>
        <p:nvPicPr>
          <p:cNvPr id="4" name="Picture 3" descr="media__1784224509467.png"/>
          <p:cNvPicPr>
            <a:picLocks noChangeAspect="1"/>
          </p:cNvPicPr>
          <p:nvPr/>
        </p:nvPicPr>
        <p:blipFill>
          <a:blip r:embed="rId4"/>
          <a:stretch>
            <a:fillRect/>
          </a:stretch>
        </p:blipFill>
        <p:spPr>
          <a:xfrm>
            <a:off x="4754880" y="1188720"/>
            <a:ext cx="3931920" cy="2560320"/>
          </a:xfrm>
          <a:prstGeom prst="rect">
            <a:avLst/>
          </a:prstGeom>
        </p:spPr>
      </p:pic>
      <p:sp>
        <p:nvSpPr>
          <p:cNvPr id="5" name="TextBox 4"/>
          <p:cNvSpPr txBox="1"/>
          <p:nvPr/>
        </p:nvSpPr>
        <p:spPr>
          <a:xfrm>
            <a:off x="457200" y="3840480"/>
            <a:ext cx="8229600" cy="1097280"/>
          </a:xfrm>
          <a:prstGeom prst="rect">
            <a:avLst/>
          </a:prstGeom>
          <a:noFill/>
        </p:spPr>
        <p:txBody>
          <a:bodyPr wrap="square">
            <a:spAutoFit/>
          </a:bodyPr>
          <a:lstStyle/>
          <a:p>
            <a:pPr>
              <a:spcAft>
                <a:spcPts val="400"/>
              </a:spcAft>
            </a:pPr>
            <a:r>
              <a:rPr sz="1100" b="1">
                <a:solidFill>
                  <a:srgbClr val="1F2937"/>
                </a:solidFill>
                <a:latin typeface="Inter"/>
              </a:rPr>
              <a:t>Kasir Jakarta</a:t>
            </a:r>
            <a:r>
              <a:rPr sz="1100">
                <a:solidFill>
                  <a:srgbClr val="1F2937"/>
                </a:solidFill>
                <a:latin typeface="Inter"/>
              </a:rPr>
              <a:t> (kiri) dan </a:t>
            </a:r>
            <a:r>
              <a:rPr sz="1100" b="1">
                <a:solidFill>
                  <a:srgbClr val="1F2937"/>
                </a:solidFill>
                <a:latin typeface="Inter"/>
              </a:rPr>
              <a:t>Kasir Bandung</a:t>
            </a:r>
            <a:r>
              <a:rPr sz="1100">
                <a:solidFill>
                  <a:srgbClr val="1F2937"/>
                </a:solidFill>
                <a:latin typeface="Inter"/>
              </a:rPr>
              <a:t> (kanan) memproses kueri transaksi lokal secara terisolasi.</a:t>
            </a:r>
          </a:p>
          <a:p>
            <a:pPr>
              <a:spcAft>
                <a:spcPts val="400"/>
              </a:spcAft>
            </a:pPr>
            <a:r>
              <a:rPr sz="1100">
                <a:solidFill>
                  <a:srgbClr val="1F2937"/>
                </a:solidFill>
                <a:latin typeface="Inter"/>
              </a:rPr>
              <a:t>Status sinkronisasi `✓ Synced` menandakan data lokal cabang telah sukses dikirim ke database Pusat.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Verifikasi Data &amp; UUID di pgAdmin 4</a:t>
            </a:r>
          </a:p>
        </p:txBody>
      </p:sp>
      <p:pic>
        <p:nvPicPr>
          <p:cNvPr id="3" name="Picture 2" descr="media__1784224516221.png"/>
          <p:cNvPicPr>
            <a:picLocks noChangeAspect="1"/>
          </p:cNvPicPr>
          <p:nvPr/>
        </p:nvPicPr>
        <p:blipFill>
          <a:blip r:embed="rId3"/>
          <a:stretch>
            <a:fillRect/>
          </a:stretch>
        </p:blipFill>
        <p:spPr>
          <a:xfrm>
            <a:off x="457200" y="1188720"/>
            <a:ext cx="3931920" cy="2560320"/>
          </a:xfrm>
          <a:prstGeom prst="rect">
            <a:avLst/>
          </a:prstGeom>
        </p:spPr>
      </p:pic>
      <p:pic>
        <p:nvPicPr>
          <p:cNvPr id="4" name="Picture 3" descr="media__1784224521450.png"/>
          <p:cNvPicPr>
            <a:picLocks noChangeAspect="1"/>
          </p:cNvPicPr>
          <p:nvPr/>
        </p:nvPicPr>
        <p:blipFill>
          <a:blip r:embed="rId4"/>
          <a:stretch>
            <a:fillRect/>
          </a:stretch>
        </p:blipFill>
        <p:spPr>
          <a:xfrm>
            <a:off x="4754880" y="1188720"/>
            <a:ext cx="3931920" cy="2560320"/>
          </a:xfrm>
          <a:prstGeom prst="rect">
            <a:avLst/>
          </a:prstGeom>
        </p:spPr>
      </p:pic>
      <p:sp>
        <p:nvSpPr>
          <p:cNvPr id="5" name="TextBox 4"/>
          <p:cNvSpPr txBox="1"/>
          <p:nvPr/>
        </p:nvSpPr>
        <p:spPr>
          <a:xfrm>
            <a:off x="457200" y="3840480"/>
            <a:ext cx="8229600" cy="1097280"/>
          </a:xfrm>
          <a:prstGeom prst="rect">
            <a:avLst/>
          </a:prstGeom>
          <a:noFill/>
        </p:spPr>
        <p:txBody>
          <a:bodyPr wrap="square">
            <a:spAutoFit/>
          </a:bodyPr>
          <a:lstStyle/>
          <a:p>
            <a:pPr>
              <a:spcAft>
                <a:spcPts val="400"/>
              </a:spcAft>
            </a:pPr>
            <a:r>
              <a:rPr sz="1100" b="1">
                <a:solidFill>
                  <a:srgbClr val="1F2937"/>
                </a:solidFill>
                <a:latin typeface="Inter"/>
              </a:rPr>
              <a:t>Detail Transaksi</a:t>
            </a:r>
            <a:r>
              <a:rPr sz="1100">
                <a:solidFill>
                  <a:srgbClr val="1F2937"/>
                </a:solidFill>
                <a:latin typeface="Inter"/>
              </a:rPr>
              <a:t> (kiri): Membuktikan primary/foreign key format UUID 36-karakter aman tanpa konflik.</a:t>
            </a:r>
          </a:p>
          <a:p>
            <a:pPr>
              <a:spcAft>
                <a:spcPts val="400"/>
              </a:spcAft>
            </a:pPr>
            <a:r>
              <a:rPr sz="1100" b="1">
                <a:solidFill>
                  <a:srgbClr val="1F2937"/>
                </a:solidFill>
                <a:latin typeface="Inter"/>
              </a:rPr>
              <a:t>Katalog Produk</a:t>
            </a:r>
            <a:r>
              <a:rPr sz="1100">
                <a:solidFill>
                  <a:srgbClr val="1F2937"/>
                </a:solidFill>
                <a:latin typeface="Inter"/>
              </a:rPr>
              <a:t> (kanan): Tabel katalog terintegrasi dengan harga lengkap tanpa pemotongan.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Pembahasan Uji Coba &amp; Demo Sistem</a:t>
            </a:r>
          </a:p>
        </p:txBody>
      </p:sp>
      <p:sp>
        <p:nvSpPr>
          <p:cNvPr id="3" name="TextBox 2"/>
          <p:cNvSpPr txBox="1"/>
          <p:nvPr/>
        </p:nvSpPr>
        <p:spPr>
          <a:xfrm>
            <a:off x="685800" y="1371600"/>
            <a:ext cx="7772400" cy="3474720"/>
          </a:xfrm>
          <a:prstGeom prst="rect">
            <a:avLst/>
          </a:prstGeom>
          <a:noFill/>
        </p:spPr>
        <p:txBody>
          <a:bodyPr wrap="square">
            <a:spAutoFit/>
          </a:bodyPr>
          <a:lstStyle/>
          <a:p>
            <a:pPr>
              <a:spcAft>
                <a:spcPts val="1200"/>
              </a:spcAft>
            </a:pPr>
            <a:r>
              <a:rPr sz="1400" b="1">
                <a:solidFill>
                  <a:srgbClr val="1F2937"/>
                </a:solidFill>
                <a:latin typeface="Inter"/>
              </a:rPr>
              <a:t>Uji Replikasi</a:t>
            </a:r>
            <a:r>
              <a:rPr sz="1400">
                <a:solidFill>
                  <a:srgbClr val="1F2937"/>
                </a:solidFill>
                <a:latin typeface="Inter"/>
              </a:rPr>
              <a:t>: Menambahkan barang di Pusat, barang langsung muncul di halaman menu kasir Jakarta &amp; Bandung secara instan.</a:t>
            </a:r>
          </a:p>
          <a:p>
            <a:pPr>
              <a:spcAft>
                <a:spcPts val="1200"/>
              </a:spcAft>
            </a:pPr>
            <a:r>
              <a:rPr sz="1400" b="1">
                <a:solidFill>
                  <a:srgbClr val="1F2937"/>
                </a:solidFill>
                <a:latin typeface="Inter"/>
              </a:rPr>
              <a:t>Uji Fragmentasi</a:t>
            </a:r>
            <a:r>
              <a:rPr sz="1400">
                <a:solidFill>
                  <a:srgbClr val="1F2937"/>
                </a:solidFill>
                <a:latin typeface="Inter"/>
              </a:rPr>
              <a:t>: Transaksi checkout di Kasir JKT hanya tersimpan di database JKT dan database Pusat, database BDG tetap kosong.</a:t>
            </a:r>
          </a:p>
          <a:p>
            <a:pPr>
              <a:spcAft>
                <a:spcPts val="1200"/>
              </a:spcAft>
            </a:pPr>
            <a:r>
              <a:rPr sz="1400" b="1">
                <a:solidFill>
                  <a:srgbClr val="1F2937"/>
                </a:solidFill>
                <a:latin typeface="Inter"/>
              </a:rPr>
              <a:t>Uji Offline (Fault Tolerance)</a:t>
            </a:r>
            <a:r>
              <a:rPr sz="1400">
                <a:solidFill>
                  <a:srgbClr val="1F2937"/>
                </a:solidFill>
                <a:latin typeface="Inter"/>
              </a:rPr>
              <a:t>: Database pusat dimatikan (`docker stop db_pusat`). Kasir cabang JKT tetap bisa bertransaksi dengan status `is_synced = false`.</a:t>
            </a:r>
          </a:p>
          <a:p>
            <a:pPr>
              <a:spcAft>
                <a:spcPts val="1200"/>
              </a:spcAft>
            </a:pPr>
            <a:r>
              <a:rPr sz="1400" b="1">
                <a:solidFill>
                  <a:srgbClr val="1F2937"/>
                </a:solidFill>
                <a:latin typeface="Inter"/>
              </a:rPr>
              <a:t>Eventual Consistency</a:t>
            </a:r>
            <a:r>
              <a:rPr sz="1400">
                <a:solidFill>
                  <a:srgbClr val="1F2937"/>
                </a:solidFill>
                <a:latin typeface="Inter"/>
              </a:rPr>
              <a:t>: Ketika pusat dinyalakan kembali, transaksi tertunda otomatis disinkronkan ke pusat dalam waktu 1 detik.</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85800" y="457200"/>
            <a:ext cx="7772400" cy="731520"/>
          </a:xfrm>
          <a:prstGeom prst="rect">
            <a:avLst/>
          </a:prstGeom>
          <a:noFill/>
        </p:spPr>
        <p:txBody>
          <a:bodyPr wrap="square">
            <a:spAutoFit/>
          </a:bodyPr>
          <a:lstStyle/>
          <a:p>
            <a:pPr>
              <a:defRPr sz="2400" b="1">
                <a:solidFill>
                  <a:srgbClr val="4F46E5"/>
                </a:solidFill>
                <a:latin typeface="Inter"/>
              </a:defRPr>
            </a:pPr>
            <a:r>
              <a:t>Kesimpulan Hasil Proyek</a:t>
            </a:r>
          </a:p>
        </p:txBody>
      </p:sp>
      <p:sp>
        <p:nvSpPr>
          <p:cNvPr id="3" name="TextBox 2"/>
          <p:cNvSpPr txBox="1"/>
          <p:nvPr/>
        </p:nvSpPr>
        <p:spPr>
          <a:xfrm>
            <a:off x="685800" y="1371600"/>
            <a:ext cx="7772400" cy="1631216"/>
          </a:xfrm>
          <a:prstGeom prst="rect">
            <a:avLst/>
          </a:prstGeom>
          <a:noFill/>
        </p:spPr>
        <p:txBody>
          <a:bodyPr wrap="square">
            <a:spAutoFit/>
          </a:bodyPr>
          <a:lstStyle/>
          <a:p>
            <a:pPr>
              <a:spcAft>
                <a:spcPts val="1200"/>
              </a:spcAft>
            </a:pPr>
            <a:r>
              <a:rPr sz="1400" dirty="0" err="1">
                <a:solidFill>
                  <a:srgbClr val="1F2937"/>
                </a:solidFill>
                <a:latin typeface="Inter"/>
              </a:rPr>
              <a:t>Sistem</a:t>
            </a:r>
            <a:r>
              <a:rPr sz="1400" dirty="0">
                <a:solidFill>
                  <a:srgbClr val="1F2937"/>
                </a:solidFill>
                <a:latin typeface="Inter"/>
              </a:rPr>
              <a:t> </a:t>
            </a:r>
            <a:r>
              <a:rPr sz="1400" dirty="0" err="1">
                <a:solidFill>
                  <a:srgbClr val="1F2937"/>
                </a:solidFill>
                <a:latin typeface="Inter"/>
              </a:rPr>
              <a:t>kasir</a:t>
            </a:r>
            <a:r>
              <a:rPr sz="1400" dirty="0">
                <a:solidFill>
                  <a:srgbClr val="1F2937"/>
                </a:solidFill>
                <a:latin typeface="Inter"/>
              </a:rPr>
              <a:t> POS franchise </a:t>
            </a:r>
            <a:r>
              <a:rPr sz="1400" dirty="0" err="1">
                <a:solidFill>
                  <a:srgbClr val="1F2937"/>
                </a:solidFill>
                <a:latin typeface="Inter"/>
              </a:rPr>
              <a:t>terdistribusi</a:t>
            </a:r>
            <a:r>
              <a:rPr sz="1400" dirty="0">
                <a:solidFill>
                  <a:srgbClr val="1F2937"/>
                </a:solidFill>
                <a:latin typeface="Inter"/>
              </a:rPr>
              <a:t> </a:t>
            </a:r>
            <a:r>
              <a:rPr sz="1400" dirty="0" err="1">
                <a:solidFill>
                  <a:srgbClr val="1F2937"/>
                </a:solidFill>
                <a:latin typeface="Inter"/>
              </a:rPr>
              <a:t>berhasil</a:t>
            </a:r>
            <a:r>
              <a:rPr sz="1400" dirty="0">
                <a:solidFill>
                  <a:srgbClr val="1F2937"/>
                </a:solidFill>
                <a:latin typeface="Inter"/>
              </a:rPr>
              <a:t> </a:t>
            </a:r>
            <a:r>
              <a:rPr sz="1400" dirty="0" err="1">
                <a:solidFill>
                  <a:srgbClr val="1F2937"/>
                </a:solidFill>
                <a:latin typeface="Inter"/>
              </a:rPr>
              <a:t>dijalankan</a:t>
            </a:r>
            <a:r>
              <a:rPr sz="1400" dirty="0">
                <a:solidFill>
                  <a:srgbClr val="1F2937"/>
                </a:solidFill>
                <a:latin typeface="Inter"/>
              </a:rPr>
              <a:t> </a:t>
            </a:r>
            <a:r>
              <a:rPr sz="1400" dirty="0" err="1">
                <a:solidFill>
                  <a:srgbClr val="1F2937"/>
                </a:solidFill>
                <a:latin typeface="Inter"/>
              </a:rPr>
              <a:t>secara</a:t>
            </a:r>
            <a:r>
              <a:rPr sz="1400" dirty="0">
                <a:solidFill>
                  <a:srgbClr val="1F2937"/>
                </a:solidFill>
                <a:latin typeface="Inter"/>
              </a:rPr>
              <a:t> </a:t>
            </a:r>
            <a:r>
              <a:rPr sz="1400" dirty="0" err="1">
                <a:solidFill>
                  <a:srgbClr val="1F2937"/>
                </a:solidFill>
                <a:latin typeface="Inter"/>
              </a:rPr>
              <a:t>lokal</a:t>
            </a:r>
            <a:r>
              <a:rPr sz="1400" dirty="0">
                <a:solidFill>
                  <a:srgbClr val="1F2937"/>
                </a:solidFill>
                <a:latin typeface="Inter"/>
              </a:rPr>
              <a:t> </a:t>
            </a:r>
            <a:r>
              <a:rPr sz="1400" dirty="0" err="1">
                <a:solidFill>
                  <a:srgbClr val="1F2937"/>
                </a:solidFill>
                <a:latin typeface="Inter"/>
              </a:rPr>
              <a:t>dengan</a:t>
            </a:r>
            <a:r>
              <a:rPr sz="1400" dirty="0">
                <a:solidFill>
                  <a:srgbClr val="1F2937"/>
                </a:solidFill>
                <a:latin typeface="Inter"/>
              </a:rPr>
              <a:t> 3 database </a:t>
            </a:r>
            <a:r>
              <a:rPr sz="1400" dirty="0" err="1">
                <a:solidFill>
                  <a:srgbClr val="1F2937"/>
                </a:solidFill>
                <a:latin typeface="Inter"/>
              </a:rPr>
              <a:t>mandiri</a:t>
            </a:r>
            <a:r>
              <a:rPr sz="1400" dirty="0">
                <a:solidFill>
                  <a:srgbClr val="1F2937"/>
                </a:solidFill>
                <a:latin typeface="Inter"/>
              </a:rPr>
              <a:t> di Docker.</a:t>
            </a:r>
          </a:p>
          <a:p>
            <a:pPr>
              <a:spcAft>
                <a:spcPts val="1200"/>
              </a:spcAft>
            </a:pPr>
            <a:r>
              <a:rPr sz="1400" dirty="0" err="1">
                <a:solidFill>
                  <a:srgbClr val="1F2937"/>
                </a:solidFill>
                <a:latin typeface="Inter"/>
              </a:rPr>
              <a:t>Masalah</a:t>
            </a:r>
            <a:r>
              <a:rPr sz="1400" dirty="0">
                <a:solidFill>
                  <a:srgbClr val="1F2937"/>
                </a:solidFill>
                <a:latin typeface="Inter"/>
              </a:rPr>
              <a:t> </a:t>
            </a:r>
            <a:r>
              <a:rPr sz="1400" dirty="0" err="1">
                <a:solidFill>
                  <a:srgbClr val="1F2937"/>
                </a:solidFill>
                <a:latin typeface="Inter"/>
              </a:rPr>
              <a:t>konektivitas</a:t>
            </a:r>
            <a:r>
              <a:rPr sz="1400" dirty="0">
                <a:solidFill>
                  <a:srgbClr val="1F2937"/>
                </a:solidFill>
                <a:latin typeface="Inter"/>
              </a:rPr>
              <a:t> </a:t>
            </a:r>
            <a:r>
              <a:rPr sz="1400" dirty="0" err="1">
                <a:solidFill>
                  <a:srgbClr val="1F2937"/>
                </a:solidFill>
                <a:latin typeface="Inter"/>
              </a:rPr>
              <a:t>lambat</a:t>
            </a:r>
            <a:r>
              <a:rPr sz="1400" dirty="0">
                <a:solidFill>
                  <a:srgbClr val="1F2937"/>
                </a:solidFill>
                <a:latin typeface="Inter"/>
              </a:rPr>
              <a:t> </a:t>
            </a:r>
            <a:r>
              <a:rPr sz="1400" dirty="0" err="1">
                <a:solidFill>
                  <a:srgbClr val="1F2937"/>
                </a:solidFill>
                <a:latin typeface="Inter"/>
              </a:rPr>
              <a:t>atau</a:t>
            </a:r>
            <a:r>
              <a:rPr sz="1400" dirty="0">
                <a:solidFill>
                  <a:srgbClr val="1F2937"/>
                </a:solidFill>
                <a:latin typeface="Inter"/>
              </a:rPr>
              <a:t> offline </a:t>
            </a:r>
            <a:r>
              <a:rPr sz="1400" dirty="0" err="1">
                <a:solidFill>
                  <a:srgbClr val="1F2937"/>
                </a:solidFill>
                <a:latin typeface="Inter"/>
              </a:rPr>
              <a:t>teratasi</a:t>
            </a:r>
            <a:r>
              <a:rPr sz="1400" dirty="0">
                <a:solidFill>
                  <a:srgbClr val="1F2937"/>
                </a:solidFill>
                <a:latin typeface="Inter"/>
              </a:rPr>
              <a:t> </a:t>
            </a:r>
            <a:r>
              <a:rPr sz="1400" dirty="0" err="1">
                <a:solidFill>
                  <a:srgbClr val="1F2937"/>
                </a:solidFill>
                <a:latin typeface="Inter"/>
              </a:rPr>
              <a:t>sempurna</a:t>
            </a:r>
            <a:r>
              <a:rPr sz="1400" dirty="0">
                <a:solidFill>
                  <a:srgbClr val="1F2937"/>
                </a:solidFill>
                <a:latin typeface="Inter"/>
              </a:rPr>
              <a:t> </a:t>
            </a:r>
            <a:r>
              <a:rPr sz="1400" dirty="0" err="1">
                <a:solidFill>
                  <a:srgbClr val="1F2937"/>
                </a:solidFill>
                <a:latin typeface="Inter"/>
              </a:rPr>
              <a:t>melalui</a:t>
            </a:r>
            <a:r>
              <a:rPr sz="1400" dirty="0">
                <a:solidFill>
                  <a:srgbClr val="1F2937"/>
                </a:solidFill>
                <a:latin typeface="Inter"/>
              </a:rPr>
              <a:t> </a:t>
            </a:r>
            <a:r>
              <a:rPr sz="1400" dirty="0" err="1">
                <a:solidFill>
                  <a:srgbClr val="1F2937"/>
                </a:solidFill>
                <a:latin typeface="Inter"/>
              </a:rPr>
              <a:t>konsep</a:t>
            </a:r>
            <a:r>
              <a:rPr sz="1400" dirty="0">
                <a:solidFill>
                  <a:srgbClr val="1F2937"/>
                </a:solidFill>
                <a:latin typeface="Inter"/>
              </a:rPr>
              <a:t> </a:t>
            </a:r>
            <a:r>
              <a:rPr sz="1400" b="1" dirty="0" err="1">
                <a:solidFill>
                  <a:srgbClr val="1F2937"/>
                </a:solidFill>
                <a:latin typeface="Inter"/>
              </a:rPr>
              <a:t>otonomi</a:t>
            </a:r>
            <a:r>
              <a:rPr sz="1400" b="1" dirty="0">
                <a:solidFill>
                  <a:srgbClr val="1F2937"/>
                </a:solidFill>
                <a:latin typeface="Inter"/>
              </a:rPr>
              <a:t> </a:t>
            </a:r>
            <a:r>
              <a:rPr sz="1400" b="1" dirty="0" err="1">
                <a:solidFill>
                  <a:srgbClr val="1F2937"/>
                </a:solidFill>
                <a:latin typeface="Inter"/>
              </a:rPr>
              <a:t>lokal</a:t>
            </a:r>
            <a:r>
              <a:rPr sz="1400" dirty="0">
                <a:solidFill>
                  <a:srgbClr val="1F2937"/>
                </a:solidFill>
                <a:latin typeface="Inter"/>
              </a:rPr>
              <a:t>.</a:t>
            </a:r>
          </a:p>
          <a:p>
            <a:pPr>
              <a:spcAft>
                <a:spcPts val="1200"/>
              </a:spcAft>
            </a:pPr>
            <a:r>
              <a:rPr sz="1400" dirty="0" err="1">
                <a:solidFill>
                  <a:srgbClr val="1F2937"/>
                </a:solidFill>
                <a:latin typeface="Inter"/>
              </a:rPr>
              <a:t>Sinkronisasi</a:t>
            </a:r>
            <a:r>
              <a:rPr sz="1400" dirty="0">
                <a:solidFill>
                  <a:srgbClr val="1F2937"/>
                </a:solidFill>
                <a:latin typeface="Inter"/>
              </a:rPr>
              <a:t> data multi-</a:t>
            </a:r>
            <a:r>
              <a:rPr sz="1400" dirty="0" err="1">
                <a:solidFill>
                  <a:srgbClr val="1F2937"/>
                </a:solidFill>
                <a:latin typeface="Inter"/>
              </a:rPr>
              <a:t>cabang</a:t>
            </a:r>
            <a:r>
              <a:rPr sz="1400" dirty="0">
                <a:solidFill>
                  <a:srgbClr val="1F2937"/>
                </a:solidFill>
                <a:latin typeface="Inter"/>
              </a:rPr>
              <a:t> </a:t>
            </a:r>
            <a:r>
              <a:rPr sz="1400" dirty="0" err="1">
                <a:solidFill>
                  <a:srgbClr val="1F2937"/>
                </a:solidFill>
                <a:latin typeface="Inter"/>
              </a:rPr>
              <a:t>terjamin</a:t>
            </a:r>
            <a:r>
              <a:rPr sz="1400" dirty="0">
                <a:solidFill>
                  <a:srgbClr val="1F2937"/>
                </a:solidFill>
                <a:latin typeface="Inter"/>
              </a:rPr>
              <a:t> </a:t>
            </a:r>
            <a:r>
              <a:rPr sz="1400" dirty="0" err="1">
                <a:solidFill>
                  <a:srgbClr val="1F2937"/>
                </a:solidFill>
                <a:latin typeface="Inter"/>
              </a:rPr>
              <a:t>aman</a:t>
            </a:r>
            <a:r>
              <a:rPr sz="1400" dirty="0">
                <a:solidFill>
                  <a:srgbClr val="1F2937"/>
                </a:solidFill>
                <a:latin typeface="Inter"/>
              </a:rPr>
              <a:t> dan </a:t>
            </a:r>
            <a:r>
              <a:rPr sz="1400" dirty="0" err="1">
                <a:solidFill>
                  <a:srgbClr val="1F2937"/>
                </a:solidFill>
                <a:latin typeface="Inter"/>
              </a:rPr>
              <a:t>konsisten</a:t>
            </a:r>
            <a:r>
              <a:rPr sz="1400" dirty="0">
                <a:solidFill>
                  <a:srgbClr val="1F2937"/>
                </a:solidFill>
                <a:latin typeface="Inter"/>
              </a:rPr>
              <a:t> </a:t>
            </a:r>
            <a:r>
              <a:rPr sz="1400" dirty="0" err="1">
                <a:solidFill>
                  <a:srgbClr val="1F2937"/>
                </a:solidFill>
                <a:latin typeface="Inter"/>
              </a:rPr>
              <a:t>lewat</a:t>
            </a:r>
            <a:r>
              <a:rPr sz="1400" dirty="0">
                <a:solidFill>
                  <a:srgbClr val="1F2937"/>
                </a:solidFill>
                <a:latin typeface="Inter"/>
              </a:rPr>
              <a:t> middleware </a:t>
            </a:r>
            <a:r>
              <a:rPr sz="1400" dirty="0" err="1">
                <a:solidFill>
                  <a:srgbClr val="1F2937"/>
                </a:solidFill>
                <a:latin typeface="Inter"/>
              </a:rPr>
              <a:t>asinkron</a:t>
            </a:r>
            <a:r>
              <a:rPr sz="1400" dirty="0">
                <a:solidFill>
                  <a:srgbClr val="1F2937"/>
                </a:solidFill>
                <a:latin typeface="Inter"/>
              </a:rPr>
              <a:t> 1-detik.</a:t>
            </a:r>
          </a:p>
          <a:p>
            <a:pPr>
              <a:spcAft>
                <a:spcPts val="1200"/>
              </a:spcAft>
            </a:pPr>
            <a:r>
              <a:rPr sz="1400" dirty="0" err="1">
                <a:solidFill>
                  <a:srgbClr val="1F2937"/>
                </a:solidFill>
                <a:latin typeface="Inter"/>
              </a:rPr>
              <a:t>Bebas</a:t>
            </a:r>
            <a:r>
              <a:rPr sz="1400" dirty="0">
                <a:solidFill>
                  <a:srgbClr val="1F2937"/>
                </a:solidFill>
                <a:latin typeface="Inter"/>
              </a:rPr>
              <a:t> </a:t>
            </a:r>
            <a:r>
              <a:rPr sz="1400" dirty="0" err="1">
                <a:solidFill>
                  <a:srgbClr val="1F2937"/>
                </a:solidFill>
                <a:latin typeface="Inter"/>
              </a:rPr>
              <a:t>konflik</a:t>
            </a:r>
            <a:r>
              <a:rPr sz="1400" dirty="0">
                <a:solidFill>
                  <a:srgbClr val="1F2937"/>
                </a:solidFill>
                <a:latin typeface="Inter"/>
              </a:rPr>
              <a:t> Primary Key </a:t>
            </a:r>
            <a:r>
              <a:rPr sz="1400" dirty="0" err="1">
                <a:solidFill>
                  <a:srgbClr val="1F2937"/>
                </a:solidFill>
                <a:latin typeface="Inter"/>
              </a:rPr>
              <a:t>berkat</a:t>
            </a:r>
            <a:r>
              <a:rPr sz="1400" dirty="0">
                <a:solidFill>
                  <a:srgbClr val="1F2937"/>
                </a:solidFill>
                <a:latin typeface="Inter"/>
              </a:rPr>
              <a:t> </a:t>
            </a:r>
            <a:r>
              <a:rPr sz="1400" dirty="0" err="1">
                <a:solidFill>
                  <a:srgbClr val="1F2937"/>
                </a:solidFill>
                <a:latin typeface="Inter"/>
              </a:rPr>
              <a:t>alokasi</a:t>
            </a:r>
            <a:r>
              <a:rPr sz="1400" dirty="0">
                <a:solidFill>
                  <a:srgbClr val="1F2937"/>
                </a:solidFill>
                <a:latin typeface="Inter"/>
              </a:rPr>
              <a:t> UUID </a:t>
            </a:r>
            <a:r>
              <a:rPr sz="1400" dirty="0" err="1">
                <a:solidFill>
                  <a:srgbClr val="1F2937"/>
                </a:solidFill>
                <a:latin typeface="Inter"/>
              </a:rPr>
              <a:t>terdistribusi</a:t>
            </a:r>
            <a:r>
              <a:rPr sz="1400">
                <a:solidFill>
                  <a:srgbClr val="1F2937"/>
                </a:solidFill>
                <a:latin typeface="Inter"/>
              </a:rPr>
              <a:t>.</a:t>
            </a:r>
            <a:endParaRPr sz="1400" dirty="0">
              <a:solidFill>
                <a:srgbClr val="1F2937"/>
              </a:solidFill>
              <a:latin typeface="Inte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TotalTime>
  <Words>1358</Words>
  <Application>Microsoft Macintosh PowerPoint</Application>
  <PresentationFormat>On-screen Show (16:9)</PresentationFormat>
  <Paragraphs>66</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adam bagaskara</cp:lastModifiedBy>
  <cp:revision>7</cp:revision>
  <dcterms:created xsi:type="dcterms:W3CDTF">2013-01-27T09:14:16Z</dcterms:created>
  <dcterms:modified xsi:type="dcterms:W3CDTF">2026-07-18T01:46:07Z</dcterms:modified>
  <cp:category/>
</cp:coreProperties>
</file>