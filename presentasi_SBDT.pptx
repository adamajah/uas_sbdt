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 ExtraBold" panose="020F0502020204030204" pitchFamily="34" charset="0"/>
      <p:bold r:id="rId19"/>
      <p:italic r:id="rId20"/>
      <p:boldItalic r:id="rId21"/>
    </p:embeddedFont>
    <p:embeddedFont>
      <p:font typeface="Poppins" pitchFamily="2" charset="77"/>
      <p:regular r:id="rId22"/>
      <p:bold r:id="rId23"/>
      <p:italic r:id="rId24"/>
      <p:boldItalic r:id="rId25"/>
    </p:embeddedFont>
    <p:embeddedFont>
      <p:font typeface="Poppins Medium" panose="020B0604020202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jzEw54v9JSMOgw4kvUg8rnobtR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5" autoAdjust="0"/>
    <p:restoredTop sz="86175" autoAdjust="0"/>
  </p:normalViewPr>
  <p:slideViewPr>
    <p:cSldViewPr snapToGrid="0">
      <p:cViewPr varScale="1">
        <p:scale>
          <a:sx n="68" d="100"/>
          <a:sy n="68" d="100"/>
        </p:scale>
        <p:origin x="288" y="24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/>
              <a:t>Proses </a:t>
            </a:r>
            <a:r>
              <a:rPr lang="en-ID" dirty="0" err="1"/>
              <a:t>pembelajaran</a:t>
            </a:r>
            <a:r>
              <a:rPr lang="en-ID" dirty="0"/>
              <a:t> di Be The Star Education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terhambat</a:t>
            </a:r>
            <a:r>
              <a:rPr lang="en-ID" dirty="0"/>
              <a:t> oleh </a:t>
            </a:r>
            <a:r>
              <a:rPr lang="en-ID" i="1" dirty="0"/>
              <a:t>intranet network constraint</a:t>
            </a:r>
            <a:r>
              <a:rPr lang="en-ID" dirty="0"/>
              <a:t>, di mana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dan </a:t>
            </a:r>
            <a:r>
              <a:rPr lang="en-ID" dirty="0" err="1"/>
              <a:t>berkas</a:t>
            </a:r>
            <a:r>
              <a:rPr lang="en-ID" dirty="0"/>
              <a:t> </a:t>
            </a:r>
            <a:r>
              <a:rPr lang="en-ID" dirty="0" err="1"/>
              <a:t>penugasan</a:t>
            </a:r>
            <a:r>
              <a:rPr lang="en-ID" dirty="0"/>
              <a:t> </a:t>
            </a:r>
            <a:r>
              <a:rPr lang="en-ID" dirty="0" err="1"/>
              <a:t>terfragmentasi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direktori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</a:t>
            </a:r>
            <a:r>
              <a:rPr lang="en-ID" dirty="0" err="1"/>
              <a:t>lokal</a:t>
            </a:r>
            <a:r>
              <a:rPr lang="en-ID" dirty="0"/>
              <a:t>.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memicu</a:t>
            </a:r>
            <a:r>
              <a:rPr lang="en-ID" dirty="0"/>
              <a:t> </a:t>
            </a:r>
            <a:r>
              <a:rPr lang="en-ID" dirty="0" err="1"/>
              <a:t>inefisiensi</a:t>
            </a:r>
            <a:r>
              <a:rPr lang="en-ID" dirty="0"/>
              <a:t> tata </a:t>
            </a:r>
            <a:r>
              <a:rPr lang="en-ID" dirty="0" err="1"/>
              <a:t>kelola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ketiadaan</a:t>
            </a:r>
            <a:r>
              <a:rPr lang="en-ID" dirty="0"/>
              <a:t> </a:t>
            </a:r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persistensi</a:t>
            </a:r>
            <a:r>
              <a:rPr lang="en-ID" dirty="0"/>
              <a:t> </a:t>
            </a:r>
            <a:r>
              <a:rPr lang="en-ID" dirty="0" err="1"/>
              <a:t>progres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i="1" dirty="0"/>
              <a:t>content-induced cognitive overload</a:t>
            </a:r>
            <a:r>
              <a:rPr lang="en-ID" dirty="0"/>
              <a:t> pada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penyajian</a:t>
            </a:r>
            <a:r>
              <a:rPr lang="en-ID" dirty="0"/>
              <a:t> </a:t>
            </a:r>
            <a:r>
              <a:rPr lang="en-ID" dirty="0" err="1"/>
              <a:t>materi</a:t>
            </a:r>
            <a:r>
              <a:rPr lang="en-ID" dirty="0"/>
              <a:t> PowerPoint yang </a:t>
            </a:r>
            <a:r>
              <a:rPr lang="en-ID" dirty="0" err="1"/>
              <a:t>panjang</a:t>
            </a:r>
            <a:r>
              <a:rPr lang="en-ID" dirty="0"/>
              <a:t> dan linier.</a:t>
            </a:r>
          </a:p>
          <a:p>
            <a:pPr marL="158750" indent="0">
              <a:buNone/>
            </a:pPr>
            <a:endParaRPr lang="en-ID" dirty="0"/>
          </a:p>
          <a:p>
            <a:pPr marL="158750" indent="0">
              <a:buNone/>
            </a:pP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ketiadaan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yang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prinsip</a:t>
            </a:r>
            <a:r>
              <a:rPr lang="en-ID" dirty="0"/>
              <a:t> </a:t>
            </a:r>
            <a:r>
              <a:rPr lang="en-ID" i="1" dirty="0"/>
              <a:t>separation of concerns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status data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dinamis</a:t>
            </a:r>
            <a:r>
              <a:rPr lang="en-ID" dirty="0"/>
              <a:t>. </a:t>
            </a:r>
            <a:r>
              <a:rPr lang="en-ID" dirty="0" err="1"/>
              <a:t>Celah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menegaskan</a:t>
            </a:r>
            <a:r>
              <a:rPr lang="en-ID" dirty="0"/>
              <a:t> </a:t>
            </a:r>
            <a:r>
              <a:rPr lang="en-ID" dirty="0" err="1"/>
              <a:t>urgensi</a:t>
            </a:r>
            <a:r>
              <a:rPr lang="en-ID" dirty="0"/>
              <a:t> </a:t>
            </a:r>
            <a:r>
              <a:rPr lang="en-ID" dirty="0" err="1"/>
              <a:t>implementasi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Model-View-</a:t>
            </a:r>
            <a:r>
              <a:rPr lang="en-ID" dirty="0" err="1"/>
              <a:t>ViewModel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MVVM,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sekuensial</a:t>
            </a:r>
            <a:r>
              <a:rPr lang="en-ID" dirty="0"/>
              <a:t> (</a:t>
            </a:r>
            <a:r>
              <a:rPr lang="en-ID" i="1" dirty="0"/>
              <a:t>assignment gating</a:t>
            </a:r>
            <a:r>
              <a:rPr lang="en-ID" dirty="0"/>
              <a:t>) </a:t>
            </a:r>
            <a:r>
              <a:rPr lang="en-ID" dirty="0" err="1"/>
              <a:t>diisolasi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kokoh</a:t>
            </a:r>
            <a:r>
              <a:rPr lang="en-ID" dirty="0"/>
              <a:t> pada </a:t>
            </a:r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ViewModel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konsistensi</a:t>
            </a:r>
            <a:r>
              <a:rPr lang="en-ID" dirty="0"/>
              <a:t> status dan </a:t>
            </a:r>
            <a:r>
              <a:rPr lang="en-ID" dirty="0" err="1"/>
              <a:t>responsivitas</a:t>
            </a:r>
            <a:r>
              <a:rPr lang="en-ID" dirty="0"/>
              <a:t> </a:t>
            </a:r>
            <a:r>
              <a:rPr lang="en-ID" dirty="0" err="1"/>
              <a:t>antarmuka</a:t>
            </a:r>
            <a:r>
              <a:rPr lang="en-ID" dirty="0"/>
              <a:t> </a:t>
            </a:r>
            <a:r>
              <a:rPr lang="en-ID" dirty="0" err="1"/>
              <a:t>reaktif</a:t>
            </a:r>
            <a:r>
              <a:rPr lang="en-ID" dirty="0"/>
              <a:t> pada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i="1" dirty="0"/>
              <a:t>mobile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369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7774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551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1495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6338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6203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8679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3650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>
                <a:effectLst/>
                <a:latin typeface="Google Sans Text"/>
              </a:rPr>
              <a:t>Rumusan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masalah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dalam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sengaja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diarahkan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pertanyaan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arsitektural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yaitu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bagaimana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pola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Separation of Concerns</a:t>
            </a:r>
            <a:r>
              <a:rPr lang="en-ID" dirty="0">
                <a:effectLst/>
                <a:latin typeface="Google Sans Text"/>
              </a:rPr>
              <a:t> pada MVVM </a:t>
            </a:r>
            <a:r>
              <a:rPr lang="en-ID" dirty="0" err="1">
                <a:effectLst/>
                <a:latin typeface="Google Sans Text"/>
              </a:rPr>
              <a:t>mampu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mengisolasi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logika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aturan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penugasan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bertahap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gawai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tanpa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mengorbankan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kenyamanan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interaksi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pengguna</a:t>
            </a:r>
            <a:r>
              <a:rPr lang="en-ID" dirty="0">
                <a:effectLst/>
                <a:latin typeface="Google Sans Text"/>
              </a:rPr>
              <a:t>. </a:t>
            </a:r>
            <a:r>
              <a:rPr lang="en-ID" dirty="0" err="1">
                <a:effectLst/>
                <a:latin typeface="Google Sans Text"/>
              </a:rPr>
              <a:t>Riset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ini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tidak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bertujuan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mengukur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peningkatan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nilai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akademis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siswa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melainkan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mengevaluasi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artefak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teknologi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dari</a:t>
            </a:r>
            <a:r>
              <a:rPr lang="en-ID" dirty="0">
                <a:effectLst/>
                <a:latin typeface="Google Sans Text"/>
              </a:rPr>
              <a:t> parameter </a:t>
            </a:r>
            <a:r>
              <a:rPr lang="en-ID" dirty="0" err="1">
                <a:effectLst/>
                <a:latin typeface="Google Sans Text"/>
              </a:rPr>
              <a:t>modularitas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konsistensi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i="1" dirty="0">
                <a:effectLst/>
                <a:latin typeface="Google Sans Text"/>
              </a:rPr>
              <a:t>state management</a:t>
            </a:r>
            <a:r>
              <a:rPr lang="en-ID" dirty="0">
                <a:effectLst/>
                <a:latin typeface="Google Sans Text"/>
              </a:rPr>
              <a:t>. Batasan </a:t>
            </a:r>
            <a:r>
              <a:rPr lang="en-ID" dirty="0" err="1">
                <a:effectLst/>
                <a:latin typeface="Google Sans Text"/>
              </a:rPr>
              <a:t>lingkup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dikunci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secara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ketat</a:t>
            </a:r>
            <a:r>
              <a:rPr lang="en-ID" dirty="0">
                <a:effectLst/>
                <a:latin typeface="Google Sans Text"/>
              </a:rPr>
              <a:t> pada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distribusi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konten</a:t>
            </a:r>
            <a:r>
              <a:rPr lang="en-ID" dirty="0">
                <a:effectLst/>
                <a:latin typeface="Google Sans Text"/>
              </a:rPr>
              <a:t> dan </a:t>
            </a:r>
            <a:r>
              <a:rPr lang="en-ID" dirty="0" err="1">
                <a:effectLst/>
                <a:latin typeface="Google Sans Text"/>
              </a:rPr>
              <a:t>pelacakan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progres</a:t>
            </a:r>
            <a:r>
              <a:rPr lang="en-ID" dirty="0">
                <a:effectLst/>
                <a:latin typeface="Google Sans Text"/>
              </a:rPr>
              <a:t>, </a:t>
            </a:r>
            <a:r>
              <a:rPr lang="en-ID" dirty="0" err="1">
                <a:effectLst/>
                <a:latin typeface="Google Sans Text"/>
              </a:rPr>
              <a:t>dengan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mengeliminasi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fitur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sekunder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seperti</a:t>
            </a:r>
            <a:r>
              <a:rPr lang="en-ID" dirty="0">
                <a:effectLst/>
                <a:latin typeface="Google Sans Text"/>
              </a:rPr>
              <a:t> forum </a:t>
            </a:r>
            <a:r>
              <a:rPr lang="en-ID" dirty="0" err="1">
                <a:effectLst/>
                <a:latin typeface="Google Sans Text"/>
              </a:rPr>
              <a:t>diskusi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ataupun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absensi</a:t>
            </a:r>
            <a:r>
              <a:rPr lang="en-ID" dirty="0">
                <a:effectLst/>
                <a:latin typeface="Google Sans Text"/>
              </a:rPr>
              <a:t> agar </a:t>
            </a:r>
            <a:r>
              <a:rPr lang="en-ID" dirty="0" err="1">
                <a:effectLst/>
                <a:latin typeface="Google Sans Text"/>
              </a:rPr>
              <a:t>fokus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penelitian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tetap</a:t>
            </a:r>
            <a:r>
              <a:rPr lang="en-ID" dirty="0">
                <a:effectLst/>
                <a:latin typeface="Google Sans Text"/>
              </a:rPr>
              <a:t> </a:t>
            </a:r>
            <a:r>
              <a:rPr lang="en-ID" dirty="0" err="1">
                <a:effectLst/>
                <a:latin typeface="Google Sans Text"/>
              </a:rPr>
              <a:t>terjaga</a:t>
            </a:r>
            <a:r>
              <a:rPr lang="en-ID" dirty="0">
                <a:effectLst/>
                <a:latin typeface="Google Sans Text"/>
              </a:rPr>
              <a:t>.</a:t>
            </a: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276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5182056" cy="10285765"/>
          </a:xfrm>
          <a:custGeom>
            <a:avLst/>
            <a:gdLst/>
            <a:ahLst/>
            <a:cxnLst/>
            <a:rect l="l" t="t" r="r" b="b"/>
            <a:pathLst>
              <a:path w="15182056" h="10285765" extrusionOk="0">
                <a:moveTo>
                  <a:pt x="0" y="0"/>
                </a:moveTo>
                <a:lnTo>
                  <a:pt x="15182056" y="0"/>
                </a:lnTo>
                <a:lnTo>
                  <a:pt x="15182056" y="10285765"/>
                </a:lnTo>
                <a:lnTo>
                  <a:pt x="0" y="1028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6016" t="-968" b="-5316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0" y="9335141"/>
            <a:ext cx="18288000" cy="951859"/>
            <a:chOff x="0" y="-57150"/>
            <a:chExt cx="4816593" cy="250695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16592" cy="193545"/>
            </a:xfrm>
            <a:custGeom>
              <a:avLst/>
              <a:gdLst/>
              <a:ahLst/>
              <a:cxnLst/>
              <a:rect l="l" t="t" r="r" b="b"/>
              <a:pathLst>
                <a:path w="4816592" h="1935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EC582D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57150"/>
              <a:ext cx="4816593" cy="250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20453" y="0"/>
            <a:ext cx="4640334" cy="1564764"/>
          </a:xfrm>
          <a:custGeom>
            <a:avLst/>
            <a:gdLst/>
            <a:ahLst/>
            <a:cxnLst/>
            <a:rect l="l" t="t" r="r" b="b"/>
            <a:pathLst>
              <a:path w="4640334" h="1564764" extrusionOk="0">
                <a:moveTo>
                  <a:pt x="0" y="0"/>
                </a:moveTo>
                <a:lnTo>
                  <a:pt x="4640334" y="0"/>
                </a:lnTo>
                <a:lnTo>
                  <a:pt x="4640334" y="1564764"/>
                </a:lnTo>
                <a:lnTo>
                  <a:pt x="0" y="156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6648773" y="1155010"/>
            <a:ext cx="10610527" cy="277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IMPLEMENTASI SISTEM </a:t>
            </a:r>
            <a:r>
              <a:rPr lang="en-US" sz="3220" b="1" i="1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MICROLEARNING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 BERBASIS </a:t>
            </a:r>
            <a:r>
              <a:rPr lang="en-US" sz="3220" b="1" i="1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MOBILE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 DENGAN ARSITEKTUR </a:t>
            </a:r>
            <a:r>
              <a:rPr lang="en-US" sz="3220" b="1" i="1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MODEL-VIEW-VIEWMODEL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 (STUDI KASUS: BE THE STAR EDUCATION </a:t>
            </a:r>
            <a:r>
              <a:rPr lang="en-US" sz="3220" b="1" i="1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LEARNING CENTER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lang="en-US" dirty="0"/>
          </a:p>
        </p:txBody>
      </p:sp>
      <p:grpSp>
        <p:nvGrpSpPr>
          <p:cNvPr id="90" name="Google Shape;90;p1"/>
          <p:cNvGrpSpPr/>
          <p:nvPr/>
        </p:nvGrpSpPr>
        <p:grpSpPr>
          <a:xfrm>
            <a:off x="10802319" y="3867076"/>
            <a:ext cx="6457395" cy="886295"/>
            <a:chOff x="0" y="-57150"/>
            <a:chExt cx="776700" cy="233426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776644" cy="176276"/>
            </a:xfrm>
            <a:custGeom>
              <a:avLst/>
              <a:gdLst/>
              <a:ahLst/>
              <a:cxnLst/>
              <a:rect l="l" t="t" r="r" b="b"/>
              <a:pathLst>
                <a:path w="776644" h="176276" extrusionOk="0">
                  <a:moveTo>
                    <a:pt x="68261" y="0"/>
                  </a:moveTo>
                  <a:lnTo>
                    <a:pt x="708383" y="0"/>
                  </a:lnTo>
                  <a:cubicBezTo>
                    <a:pt x="746082" y="0"/>
                    <a:pt x="776644" y="30562"/>
                    <a:pt x="776644" y="68261"/>
                  </a:cubicBezTo>
                  <a:lnTo>
                    <a:pt x="776644" y="108015"/>
                  </a:lnTo>
                  <a:cubicBezTo>
                    <a:pt x="776644" y="126119"/>
                    <a:pt x="769452" y="143482"/>
                    <a:pt x="756651" y="156283"/>
                  </a:cubicBezTo>
                  <a:cubicBezTo>
                    <a:pt x="743849" y="169085"/>
                    <a:pt x="726487" y="176276"/>
                    <a:pt x="708383" y="176276"/>
                  </a:cubicBezTo>
                  <a:lnTo>
                    <a:pt x="68261" y="176276"/>
                  </a:lnTo>
                  <a:cubicBezTo>
                    <a:pt x="50157" y="176276"/>
                    <a:pt x="32795" y="169085"/>
                    <a:pt x="19993" y="156283"/>
                  </a:cubicBezTo>
                  <a:cubicBezTo>
                    <a:pt x="7192" y="143482"/>
                    <a:pt x="0" y="126119"/>
                    <a:pt x="0" y="108015"/>
                  </a:cubicBezTo>
                  <a:lnTo>
                    <a:pt x="0" y="68261"/>
                  </a:lnTo>
                  <a:cubicBezTo>
                    <a:pt x="0" y="50157"/>
                    <a:pt x="7192" y="32795"/>
                    <a:pt x="19993" y="19993"/>
                  </a:cubicBezTo>
                  <a:cubicBezTo>
                    <a:pt x="32795" y="7192"/>
                    <a:pt x="50157" y="0"/>
                    <a:pt x="68261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57150"/>
              <a:ext cx="7767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9040448" y="9634070"/>
            <a:ext cx="821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FAKULTAS ILMU KOMPUTER UNIVERSITAS ESA UNGGUL</a:t>
            </a:r>
            <a:endParaRPr sz="2300" b="1"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11022104" y="4171719"/>
            <a:ext cx="6017357" cy="43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Jefry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Sunupurwa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Asri, </a:t>
            </a: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S.Kom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., </a:t>
            </a: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M.Kom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13148022" y="4818379"/>
            <a:ext cx="406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 i="0" u="none" strike="noStrike" cap="none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..................................................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3104812" y="7183618"/>
            <a:ext cx="4154488" cy="155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dirty="0">
                <a:solidFill>
                  <a:srgbClr val="131430"/>
                </a:solidFill>
                <a:latin typeface="Poppins"/>
                <a:cs typeface="Poppins"/>
                <a:sym typeface="Poppins"/>
              </a:rPr>
              <a:t>Adam </a:t>
            </a:r>
            <a:r>
              <a:rPr lang="en-US" sz="2399" b="1" dirty="0" err="1">
                <a:solidFill>
                  <a:srgbClr val="131430"/>
                </a:solidFill>
                <a:latin typeface="Poppins"/>
                <a:cs typeface="Poppins"/>
                <a:sym typeface="Poppins"/>
              </a:rPr>
              <a:t>Bagaskara</a:t>
            </a:r>
            <a:endParaRPr dirty="0"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20220801522</a:t>
            </a:r>
            <a:endParaRPr dirty="0"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TEKNIK INFORMATIKA</a:t>
            </a:r>
            <a:endParaRPr dirty="0"/>
          </a:p>
        </p:txBody>
      </p:sp>
      <p:grpSp>
        <p:nvGrpSpPr>
          <p:cNvPr id="97" name="Google Shape;97;p1"/>
          <p:cNvGrpSpPr/>
          <p:nvPr/>
        </p:nvGrpSpPr>
        <p:grpSpPr>
          <a:xfrm>
            <a:off x="0" y="9550898"/>
            <a:ext cx="4881239" cy="734867"/>
            <a:chOff x="0" y="0"/>
            <a:chExt cx="1285594" cy="19354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285594" cy="193545"/>
            </a:xfrm>
            <a:custGeom>
              <a:avLst/>
              <a:gdLst/>
              <a:ahLst/>
              <a:cxnLst/>
              <a:rect l="l" t="t" r="r" b="b"/>
              <a:pathLst>
                <a:path w="1285594" h="193545" extrusionOk="0">
                  <a:moveTo>
                    <a:pt x="0" y="0"/>
                  </a:moveTo>
                  <a:lnTo>
                    <a:pt x="1285594" y="0"/>
                  </a:lnTo>
                  <a:lnTo>
                    <a:pt x="1285594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257ABA"/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0" y="0"/>
              <a:ext cx="12855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fasilkom@esaunggul.ac.id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5579125" y="1273963"/>
            <a:ext cx="7121182" cy="52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LATAR BELAKANG MASALAH</a:t>
            </a:r>
            <a:endParaRPr dirty="0"/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Latar Belakang Masalah</a:t>
              </a:r>
              <a:endParaRPr/>
            </a:p>
          </p:txBody>
        </p:sp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id="{39503F26-C4B5-4F06-B7B7-738F2DD8F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433" y="2955053"/>
            <a:ext cx="12084565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en-ID" sz="2000" b="1" dirty="0" err="1">
                <a:solidFill>
                  <a:srgbClr val="1F2937"/>
                </a:solidFill>
                <a:latin typeface="Inter"/>
              </a:rPr>
              <a:t>Tantangan</a:t>
            </a:r>
            <a:r>
              <a:rPr lang="en-ID" sz="20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b="1" dirty="0" err="1">
                <a:solidFill>
                  <a:srgbClr val="1F2937"/>
                </a:solidFill>
                <a:latin typeface="Inter"/>
              </a:rPr>
              <a:t>Bisnis</a:t>
            </a:r>
            <a:r>
              <a:rPr lang="en-ID" sz="2000" b="1" dirty="0">
                <a:solidFill>
                  <a:srgbClr val="1F2937"/>
                </a:solidFill>
                <a:latin typeface="Inter"/>
              </a:rPr>
              <a:t> Franchise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Memiliki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banyak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fisik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(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seperti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Jakarta dan Bandung) yang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harus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beroperasi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serentak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2000" b="1" dirty="0" err="1">
                <a:solidFill>
                  <a:srgbClr val="1F2937"/>
                </a:solidFill>
                <a:latin typeface="Inter"/>
              </a:rPr>
              <a:t>Masalah</a:t>
            </a:r>
            <a:r>
              <a:rPr lang="en-ID" sz="20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b="1" dirty="0" err="1">
                <a:solidFill>
                  <a:srgbClr val="1F2937"/>
                </a:solidFill>
                <a:latin typeface="Inter"/>
              </a:rPr>
              <a:t>Sentralisasi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Koneksi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internet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mati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atau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server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pusat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down,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menyebabkan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operasional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lumpuh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total.</a:t>
            </a:r>
          </a:p>
          <a:p>
            <a:pPr>
              <a:spcAft>
                <a:spcPts val="1200"/>
              </a:spcAft>
            </a:pPr>
            <a:r>
              <a:rPr lang="en-ID" sz="2000" b="1" dirty="0" err="1">
                <a:solidFill>
                  <a:srgbClr val="1F2937"/>
                </a:solidFill>
                <a:latin typeface="Inter"/>
              </a:rPr>
              <a:t>Masalah</a:t>
            </a:r>
            <a:r>
              <a:rPr lang="en-ID" sz="20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b="1" dirty="0" err="1">
                <a:solidFill>
                  <a:srgbClr val="1F2937"/>
                </a:solidFill>
                <a:latin typeface="Inter"/>
              </a:rPr>
              <a:t>Latensi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: Jarak database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jauh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,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sehingga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respon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melambat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dan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memicu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antrean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2000" b="1" dirty="0">
                <a:solidFill>
                  <a:srgbClr val="1F2937"/>
                </a:solidFill>
                <a:latin typeface="Inter"/>
              </a:rPr>
              <a:t>Solusi SBDT (Distributed Database)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Setiap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memiliki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database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lokal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sendiri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agar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tetap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jalan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lancar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F2937"/>
                </a:solidFill>
                <a:latin typeface="Inter"/>
              </a:rPr>
              <a:t>walau</a:t>
            </a:r>
            <a:r>
              <a:rPr lang="en-ID" sz="2000" dirty="0">
                <a:solidFill>
                  <a:srgbClr val="1F2937"/>
                </a:solidFill>
                <a:latin typeface="Inter"/>
              </a:rPr>
              <a:t>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3840458" y="1072638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 err="1">
                <a:solidFill>
                  <a:schemeClr val="bg1"/>
                </a:solidFill>
              </a:rPr>
              <a:t>Referensi</a:t>
            </a:r>
            <a:r>
              <a:rPr lang="en-ID" sz="5400" dirty="0">
                <a:solidFill>
                  <a:schemeClr val="bg1"/>
                </a:solidFill>
              </a:rPr>
              <a:t> </a:t>
            </a:r>
            <a:r>
              <a:rPr lang="en-ID" sz="5400" dirty="0" err="1">
                <a:solidFill>
                  <a:schemeClr val="bg1"/>
                </a:solidFill>
              </a:rPr>
              <a:t>Teori</a:t>
            </a:r>
            <a:r>
              <a:rPr lang="en-ID" sz="5400" dirty="0">
                <a:solidFill>
                  <a:schemeClr val="bg1"/>
                </a:solidFill>
              </a:rPr>
              <a:t> SBDT (Pilar Utama)</a:t>
            </a: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2911561" y="2584436"/>
            <a:ext cx="12464878" cy="538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ID" sz="3000" dirty="0">
                <a:solidFill>
                  <a:srgbClr val="1F2937"/>
                </a:solidFill>
                <a:latin typeface="Inter"/>
              </a:rPr>
              <a:t>1. </a:t>
            </a:r>
            <a:r>
              <a:rPr lang="en-ID" sz="3000" b="1" dirty="0" err="1">
                <a:solidFill>
                  <a:srgbClr val="1F2937"/>
                </a:solidFill>
                <a:latin typeface="Inter"/>
              </a:rPr>
              <a:t>Otonomi</a:t>
            </a:r>
            <a:r>
              <a:rPr lang="en-ID" sz="30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b="1" dirty="0" err="1">
                <a:solidFill>
                  <a:srgbClr val="1F2937"/>
                </a:solidFill>
                <a:latin typeface="Inter"/>
              </a:rPr>
              <a:t>Lokal</a:t>
            </a:r>
            <a:r>
              <a:rPr lang="en-ID" sz="3000" b="1" dirty="0">
                <a:solidFill>
                  <a:srgbClr val="1F2937"/>
                </a:solidFill>
                <a:latin typeface="Inter"/>
              </a:rPr>
              <a:t> (Local Autonomy)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: Cabang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mandiri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mengelola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lokal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tanpa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bergantung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server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pusat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3000" dirty="0">
                <a:solidFill>
                  <a:srgbClr val="1F2937"/>
                </a:solidFill>
                <a:latin typeface="Inter"/>
              </a:rPr>
              <a:t>2. </a:t>
            </a:r>
            <a:r>
              <a:rPr lang="en-ID" sz="3000" b="1" dirty="0" err="1">
                <a:solidFill>
                  <a:srgbClr val="1F2937"/>
                </a:solidFill>
                <a:latin typeface="Inter"/>
              </a:rPr>
              <a:t>Replikasi</a:t>
            </a:r>
            <a:r>
              <a:rPr lang="en-ID" sz="30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b="1" dirty="0" err="1">
                <a:solidFill>
                  <a:srgbClr val="1F2937"/>
                </a:solidFill>
                <a:latin typeface="Inter"/>
              </a:rPr>
              <a:t>Logikal</a:t>
            </a:r>
            <a:r>
              <a:rPr lang="en-ID" sz="3000" b="1" dirty="0">
                <a:solidFill>
                  <a:srgbClr val="1F2937"/>
                </a:solidFill>
                <a:latin typeface="Inter"/>
              </a:rPr>
              <a:t> (Logical Replication)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Sinkronisasi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katalog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produk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otomatis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dari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Pusat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ke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Cabang.</a:t>
            </a:r>
          </a:p>
          <a:p>
            <a:pPr>
              <a:spcAft>
                <a:spcPts val="1200"/>
              </a:spcAft>
            </a:pPr>
            <a:r>
              <a:rPr lang="en-ID" sz="3000" dirty="0">
                <a:solidFill>
                  <a:srgbClr val="1F2937"/>
                </a:solidFill>
                <a:latin typeface="Inter"/>
              </a:rPr>
              <a:t>3. </a:t>
            </a:r>
            <a:r>
              <a:rPr lang="en-ID" sz="3000" b="1" dirty="0" err="1">
                <a:solidFill>
                  <a:srgbClr val="1F2937"/>
                </a:solidFill>
                <a:latin typeface="Inter"/>
              </a:rPr>
              <a:t>Fragmentasi</a:t>
            </a:r>
            <a:r>
              <a:rPr lang="en-ID" sz="3000" b="1" dirty="0">
                <a:solidFill>
                  <a:srgbClr val="1F2937"/>
                </a:solidFill>
                <a:latin typeface="Inter"/>
              </a:rPr>
              <a:t> Horizontal (Horizontal Fragmentation)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Pemisahan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data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secara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fisik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berdasarkan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lokasi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(JKT &amp; BDG).</a:t>
            </a:r>
          </a:p>
          <a:p>
            <a:pPr>
              <a:spcAft>
                <a:spcPts val="1200"/>
              </a:spcAft>
            </a:pPr>
            <a:r>
              <a:rPr lang="en-ID" sz="3000" dirty="0">
                <a:solidFill>
                  <a:srgbClr val="1F2937"/>
                </a:solidFill>
                <a:latin typeface="Inter"/>
              </a:rPr>
              <a:t>4. </a:t>
            </a:r>
            <a:r>
              <a:rPr lang="en-ID" sz="3000" b="1" dirty="0">
                <a:solidFill>
                  <a:srgbClr val="1F2937"/>
                </a:solidFill>
                <a:latin typeface="Inter"/>
              </a:rPr>
              <a:t>Eventual Consistency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: Data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otomatis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sinkron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ke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Pusat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begitu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koneksi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internet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pulih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3000" dirty="0">
                <a:solidFill>
                  <a:srgbClr val="1F2937"/>
                </a:solidFill>
                <a:latin typeface="Inter"/>
              </a:rPr>
              <a:t>5. </a:t>
            </a:r>
            <a:r>
              <a:rPr lang="en-ID" sz="3000" b="1" dirty="0" err="1">
                <a:solidFill>
                  <a:srgbClr val="1F2937"/>
                </a:solidFill>
                <a:latin typeface="Inter"/>
              </a:rPr>
              <a:t>Toleransi</a:t>
            </a:r>
            <a:r>
              <a:rPr lang="en-ID" sz="30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b="1" dirty="0" err="1">
                <a:solidFill>
                  <a:srgbClr val="1F2937"/>
                </a:solidFill>
                <a:latin typeface="Inter"/>
              </a:rPr>
              <a:t>Gangguan</a:t>
            </a:r>
            <a:r>
              <a:rPr lang="en-ID" sz="3000" b="1" dirty="0">
                <a:solidFill>
                  <a:srgbClr val="1F2937"/>
                </a:solidFill>
                <a:latin typeface="Inter"/>
              </a:rPr>
              <a:t> (Fault Tolerance)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Sistem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tetap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aktif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berjalan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meski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server Pusat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sedang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000" dirty="0" err="1">
                <a:solidFill>
                  <a:srgbClr val="1F2937"/>
                </a:solidFill>
                <a:latin typeface="Inter"/>
              </a:rPr>
              <a:t>mati</a:t>
            </a:r>
            <a:r>
              <a:rPr lang="en-ID" sz="3000" dirty="0">
                <a:solidFill>
                  <a:srgbClr val="1F2937"/>
                </a:solidFill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269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5161647" y="1088919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>
                <a:solidFill>
                  <a:schemeClr val="bg1"/>
                </a:solidFill>
              </a:rPr>
              <a:t>Daftar </a:t>
            </a:r>
            <a:r>
              <a:rPr lang="en-ID" sz="5400" dirty="0" err="1">
                <a:solidFill>
                  <a:schemeClr val="bg1"/>
                </a:solidFill>
              </a:rPr>
              <a:t>Referensi</a:t>
            </a:r>
            <a:r>
              <a:rPr lang="en-ID" sz="5400" dirty="0">
                <a:solidFill>
                  <a:schemeClr val="bg1"/>
                </a:solidFill>
              </a:rPr>
              <a:t> Pustaka</a:t>
            </a: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2911561" y="2584436"/>
            <a:ext cx="12464878" cy="618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Buku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Panduan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Akademik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SBDT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Özsu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, M. T., &amp;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Valduriez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, P. (2020). Principles of Distributed Database Systems (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Buku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acuan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utama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teori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SBDT universitas).</a:t>
            </a:r>
          </a:p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Teori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Basis Data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Relasional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Elmasri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, R., &amp;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Navathe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, S. B. (2015). Fundamentals of Database Systems.</a:t>
            </a:r>
          </a:p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Replikasi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Logikal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Database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PostgreSQL Global Development Group. Documentation: Logical Replication (Publication/Subscription).</a:t>
            </a:r>
          </a:p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Standardisasi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ID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Terdistribusi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RFC 4122 Standard Specification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untuk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Universally Unique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IDentifier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(UUID).</a:t>
            </a:r>
          </a:p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Virtualisasi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Node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Terdistribusi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Docker Compose Network &amp; Container Isolation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39301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3176666" y="1088919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 err="1">
                <a:solidFill>
                  <a:schemeClr val="bg1"/>
                </a:solidFill>
              </a:rPr>
              <a:t>Arsitektur</a:t>
            </a:r>
            <a:r>
              <a:rPr lang="en-ID" sz="5400" dirty="0">
                <a:solidFill>
                  <a:schemeClr val="bg1"/>
                </a:solidFill>
              </a:rPr>
              <a:t> </a:t>
            </a:r>
            <a:r>
              <a:rPr lang="en-ID" sz="5400" dirty="0" err="1">
                <a:solidFill>
                  <a:schemeClr val="bg1"/>
                </a:solidFill>
              </a:rPr>
              <a:t>Jaringan</a:t>
            </a:r>
            <a:r>
              <a:rPr lang="en-ID" sz="5400" dirty="0">
                <a:solidFill>
                  <a:schemeClr val="bg1"/>
                </a:solidFill>
              </a:rPr>
              <a:t> &amp; </a:t>
            </a:r>
            <a:r>
              <a:rPr lang="en-ID" sz="5400" dirty="0" err="1">
                <a:solidFill>
                  <a:schemeClr val="bg1"/>
                </a:solidFill>
              </a:rPr>
              <a:t>Topologi</a:t>
            </a:r>
            <a:r>
              <a:rPr lang="en-ID" sz="5400" dirty="0">
                <a:solidFill>
                  <a:schemeClr val="bg1"/>
                </a:solidFill>
              </a:rPr>
              <a:t> (Docker)</a:t>
            </a: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2911561" y="2584436"/>
            <a:ext cx="12464878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Pusat HQ (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db_pusat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)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Menampung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skema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database `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pos_pusat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` di port host 5431.</a:t>
            </a:r>
          </a:p>
          <a:p>
            <a:pPr>
              <a:spcAft>
                <a:spcPts val="12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Cabang Jakarta (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db_cabang_jkt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)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Menampung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skema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database `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pos_jkt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` di port host 5433.</a:t>
            </a:r>
          </a:p>
          <a:p>
            <a:pPr>
              <a:spcAft>
                <a:spcPts val="12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Cabang Bandung (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db_cabang_bdg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)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Menampung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skema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database `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pos_bdg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` di port host 5434.</a:t>
            </a:r>
          </a:p>
          <a:p>
            <a:pPr>
              <a:spcAft>
                <a:spcPts val="12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Sync Agent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Daemon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pemindah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asinkron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berbasis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Node.js yang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memantau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&amp;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mengirimkan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non-synced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ke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setiap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1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detik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pgAdmin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4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Web GUI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untuk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inspeksi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visual data di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semua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node (Port 5050).</a:t>
            </a:r>
          </a:p>
        </p:txBody>
      </p:sp>
    </p:spTree>
    <p:extLst>
      <p:ext uri="{BB962C8B-B14F-4D97-AF65-F5344CB8AC3E}">
        <p14:creationId xmlns:p14="http://schemas.microsoft.com/office/powerpoint/2010/main" val="156675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4562749" y="1122170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>
                <a:solidFill>
                  <a:schemeClr val="bg1"/>
                </a:solidFill>
              </a:rPr>
              <a:t>Skema Database &amp; </a:t>
            </a:r>
            <a:r>
              <a:rPr lang="en-ID" sz="5400" dirty="0" err="1">
                <a:solidFill>
                  <a:schemeClr val="bg1"/>
                </a:solidFill>
              </a:rPr>
              <a:t>Struktur</a:t>
            </a:r>
            <a:endParaRPr lang="en-ID" sz="5400" dirty="0">
              <a:solidFill>
                <a:schemeClr val="bg1"/>
              </a:solidFill>
            </a:endParaRP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2911561" y="2584436"/>
            <a:ext cx="12464878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Tabel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Produk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(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Replikasi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)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Struktur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identik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di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semua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, di-update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lalu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direplikasikan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otomatis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Tabel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(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Fragmentasi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)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Terfragmentasi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secara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horizontal.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Menggunakan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UUID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sebagai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Primary Key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untuk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mencegah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bentrokan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identitas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saat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digabungkan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di database Pusat.</a:t>
            </a:r>
          </a:p>
          <a:p>
            <a:pPr>
              <a:spcAft>
                <a:spcPts val="12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Struktur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Clean Code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Memisahkan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file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konfigurasi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basis data (`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db.js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`), database helper query lifecycle (`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db_helper.js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`), dan route handler modular (`routes/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kasir.js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`, `routes/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dashboard.js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`).</a:t>
            </a:r>
          </a:p>
        </p:txBody>
      </p:sp>
    </p:spTree>
    <p:extLst>
      <p:ext uri="{BB962C8B-B14F-4D97-AF65-F5344CB8AC3E}">
        <p14:creationId xmlns:p14="http://schemas.microsoft.com/office/powerpoint/2010/main" val="2159458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5343787" y="1091557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>
                <a:solidFill>
                  <a:schemeClr val="bg1"/>
                </a:solidFill>
              </a:rPr>
              <a:t>Dashboard Pusat HQ</a:t>
            </a: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1692361" y="2652754"/>
            <a:ext cx="5851439" cy="432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000"/>
              </a:spcAft>
            </a:pPr>
            <a:r>
              <a:rPr lang="en-ID" sz="3200" dirty="0" err="1">
                <a:solidFill>
                  <a:srgbClr val="1F2937"/>
                </a:solidFill>
                <a:latin typeface="Inter"/>
              </a:rPr>
              <a:t>Menampilkan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Total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Omzet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Global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hasil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penyatuan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 JKT &amp; BDG.</a:t>
            </a:r>
          </a:p>
          <a:p>
            <a:pPr>
              <a:spcAft>
                <a:spcPts val="1000"/>
              </a:spcAft>
            </a:pPr>
            <a:r>
              <a:rPr lang="en-ID" sz="3200" dirty="0" err="1">
                <a:solidFill>
                  <a:srgbClr val="1F2937"/>
                </a:solidFill>
                <a:latin typeface="Inter"/>
              </a:rPr>
              <a:t>Statistik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total nota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masuk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dan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rincian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omzet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kontribusi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tiap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ID" sz="3200" dirty="0">
                <a:solidFill>
                  <a:srgbClr val="1F2937"/>
                </a:solidFill>
                <a:latin typeface="Inter"/>
              </a:rPr>
              <a:t>Master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katalog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terintegrasi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dengan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input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penambahan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produk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</p:txBody>
      </p:sp>
      <p:pic>
        <p:nvPicPr>
          <p:cNvPr id="3" name="Picture 2" descr="media__1784224500819.png">
            <a:extLst>
              <a:ext uri="{FF2B5EF4-FFF2-40B4-BE49-F238E27FC236}">
                <a16:creationId xmlns:a16="http://schemas.microsoft.com/office/drawing/2014/main" id="{F8D407A0-430E-ACDF-DF96-F5AA69342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384" y="2265634"/>
            <a:ext cx="7321800" cy="524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60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3893492" y="1103201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 err="1">
                <a:solidFill>
                  <a:schemeClr val="bg1"/>
                </a:solidFill>
              </a:rPr>
              <a:t>Kasir</a:t>
            </a:r>
            <a:r>
              <a:rPr lang="en-ID" sz="5400" dirty="0">
                <a:solidFill>
                  <a:schemeClr val="bg1"/>
                </a:solidFill>
              </a:rPr>
              <a:t> Cabang Jakarta &amp; Bandung</a:t>
            </a: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942135" y="7438639"/>
            <a:ext cx="14462039" cy="20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Jakarta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(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kiri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) dan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Bandung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(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kanan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)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memproses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kueri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lokal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secara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terisolasi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ID" sz="3200" dirty="0">
                <a:solidFill>
                  <a:srgbClr val="1F2937"/>
                </a:solidFill>
                <a:latin typeface="Inter"/>
              </a:rPr>
              <a:t>Status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sinkronisasi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`✓ Synced`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menandakan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lokal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telah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sukses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dikirim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ke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database Pusat.</a:t>
            </a:r>
          </a:p>
        </p:txBody>
      </p:sp>
      <p:pic>
        <p:nvPicPr>
          <p:cNvPr id="2" name="Picture 1" descr="media__1784224505719.png">
            <a:extLst>
              <a:ext uri="{FF2B5EF4-FFF2-40B4-BE49-F238E27FC236}">
                <a16:creationId xmlns:a16="http://schemas.microsoft.com/office/drawing/2014/main" id="{458865CD-40D2-3C92-E873-8E06188A2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912" y="2583180"/>
            <a:ext cx="6130738" cy="4244976"/>
          </a:xfrm>
          <a:prstGeom prst="rect">
            <a:avLst/>
          </a:prstGeom>
        </p:spPr>
      </p:pic>
      <p:pic>
        <p:nvPicPr>
          <p:cNvPr id="4" name="Picture 3" descr="media__1784224509467.png">
            <a:extLst>
              <a:ext uri="{FF2B5EF4-FFF2-40B4-BE49-F238E27FC236}">
                <a16:creationId xmlns:a16="http://schemas.microsoft.com/office/drawing/2014/main" id="{E0A9CF1F-3F06-51DF-3B16-A4C035369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2469640"/>
            <a:ext cx="6260174" cy="424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40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3676650" y="1122170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 err="1"/>
              <a:t>Verifikasi</a:t>
            </a:r>
            <a:r>
              <a:rPr lang="en-ID" sz="5400" dirty="0"/>
              <a:t> Data &amp; UUID di </a:t>
            </a:r>
            <a:r>
              <a:rPr lang="en-ID" sz="5400" dirty="0" err="1"/>
              <a:t>pgAdmin</a:t>
            </a:r>
            <a:r>
              <a:rPr lang="en-ID" sz="5400" dirty="0"/>
              <a:t> 4</a:t>
            </a: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942135" y="7438639"/>
            <a:ext cx="14462039" cy="20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Detail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(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kiri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):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Membuktikan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primary/foreign key format UUID 36-karakter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aman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tanpa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konflik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Katalog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Produk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(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kanan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):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Tabel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katalog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terintegrasi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dengan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harga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lengkap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tanpa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pemotongan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</p:txBody>
      </p:sp>
      <p:pic>
        <p:nvPicPr>
          <p:cNvPr id="3" name="Picture 2" descr="media__1784224516221.png">
            <a:extLst>
              <a:ext uri="{FF2B5EF4-FFF2-40B4-BE49-F238E27FC236}">
                <a16:creationId xmlns:a16="http://schemas.microsoft.com/office/drawing/2014/main" id="{63FADB35-B9C0-9A90-109B-80D0DC415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2652754"/>
            <a:ext cx="6172200" cy="4009886"/>
          </a:xfrm>
          <a:prstGeom prst="rect">
            <a:avLst/>
          </a:prstGeom>
        </p:spPr>
      </p:pic>
      <p:pic>
        <p:nvPicPr>
          <p:cNvPr id="5" name="Picture 4" descr="media__1784224521450.png">
            <a:extLst>
              <a:ext uri="{FF2B5EF4-FFF2-40B4-BE49-F238E27FC236}">
                <a16:creationId xmlns:a16="http://schemas.microsoft.com/office/drawing/2014/main" id="{AB092EFE-0D70-023D-7219-098193B4BE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652753"/>
            <a:ext cx="5848350" cy="400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6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3388659" y="1122170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 err="1">
                <a:solidFill>
                  <a:schemeClr val="bg1"/>
                </a:solidFill>
              </a:rPr>
              <a:t>Pembahasan</a:t>
            </a:r>
            <a:r>
              <a:rPr lang="en-ID" sz="5400" dirty="0">
                <a:solidFill>
                  <a:schemeClr val="bg1"/>
                </a:solidFill>
              </a:rPr>
              <a:t> Uji </a:t>
            </a:r>
            <a:r>
              <a:rPr lang="en-ID" sz="5400" dirty="0" err="1">
                <a:solidFill>
                  <a:schemeClr val="bg1"/>
                </a:solidFill>
              </a:rPr>
              <a:t>Coba</a:t>
            </a:r>
            <a:r>
              <a:rPr lang="en-ID" sz="5400" dirty="0">
                <a:solidFill>
                  <a:schemeClr val="bg1"/>
                </a:solidFill>
              </a:rPr>
              <a:t> &amp; Demo </a:t>
            </a:r>
            <a:r>
              <a:rPr lang="en-ID" sz="5400" dirty="0" err="1">
                <a:solidFill>
                  <a:schemeClr val="bg1"/>
                </a:solidFill>
              </a:rPr>
              <a:t>Sistem</a:t>
            </a:r>
            <a:endParaRPr lang="en-ID" sz="5400" dirty="0">
              <a:solidFill>
                <a:schemeClr val="bg1"/>
              </a:solidFill>
            </a:endParaRP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2911561" y="2584436"/>
            <a:ext cx="12464878" cy="504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Uji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Replikasi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Menambahkan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barang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di Pusat,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barang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langsung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muncul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di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halaman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menu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Jakarta &amp; Bandung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secara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instan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Uji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Fragmentasi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checkout di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JKT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hanya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tersimpan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di database JKT dan database Pusat, database BDG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tetap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kosong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Uji Offline (Fault Tolerance)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Database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dimatikan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(`docker stop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db_pusat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`).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JKT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tetap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bisa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bertransaksi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dengan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status `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is_synced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= false`.</a:t>
            </a:r>
          </a:p>
          <a:p>
            <a:pPr>
              <a:spcAft>
                <a:spcPts val="1200"/>
              </a:spcAft>
            </a:pPr>
            <a:r>
              <a:rPr lang="en-ID" sz="3200" b="1" dirty="0">
                <a:solidFill>
                  <a:srgbClr val="1F2937"/>
                </a:solidFill>
                <a:latin typeface="Inter"/>
              </a:rPr>
              <a:t>Eventual Consistency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: Ketika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dinyalakan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kembali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,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transaksi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tertunda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otomatis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disinkronkan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ke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pusat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dalam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waktu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1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detik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8363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5161647" y="1128322"/>
            <a:ext cx="115106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Inter"/>
              </a:defRPr>
            </a:pPr>
            <a:r>
              <a:rPr lang="en-ID" sz="5400" dirty="0">
                <a:solidFill>
                  <a:schemeClr val="bg1"/>
                </a:solidFill>
              </a:rPr>
              <a:t>Kesimpulan Hasil </a:t>
            </a:r>
            <a:r>
              <a:rPr lang="en-ID" sz="5400" dirty="0" err="1">
                <a:solidFill>
                  <a:schemeClr val="bg1"/>
                </a:solidFill>
              </a:rPr>
              <a:t>Proyek</a:t>
            </a:r>
            <a:endParaRPr lang="en-ID" sz="5400" dirty="0">
              <a:solidFill>
                <a:schemeClr val="bg1"/>
              </a:solidFill>
            </a:endParaRP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24" name="Google Shape;120;p2">
            <a:extLst>
              <a:ext uri="{FF2B5EF4-FFF2-40B4-BE49-F238E27FC236}">
                <a16:creationId xmlns:a16="http://schemas.microsoft.com/office/drawing/2014/main" id="{9C419D7D-2435-4DF5-A1ED-DE7B29346938}"/>
              </a:ext>
            </a:extLst>
          </p:cNvPr>
          <p:cNvSpPr txBox="1"/>
          <p:nvPr/>
        </p:nvSpPr>
        <p:spPr>
          <a:xfrm>
            <a:off x="2911561" y="2584436"/>
            <a:ext cx="12464878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ID" sz="3200" dirty="0" err="1">
                <a:solidFill>
                  <a:srgbClr val="1F2937"/>
                </a:solidFill>
                <a:latin typeface="Inter"/>
              </a:rPr>
              <a:t>Sistem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kasir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POS franchise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terdistribusi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berhasil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dijalankan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secara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lokal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dengan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3 database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mandiri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di Docker.</a:t>
            </a:r>
          </a:p>
          <a:p>
            <a:pPr>
              <a:spcAft>
                <a:spcPts val="1200"/>
              </a:spcAft>
            </a:pPr>
            <a:r>
              <a:rPr lang="en-ID" sz="3200" dirty="0" err="1">
                <a:solidFill>
                  <a:srgbClr val="1F2937"/>
                </a:solidFill>
                <a:latin typeface="Inter"/>
              </a:rPr>
              <a:t>Masalah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konektivitas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lambat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atau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offline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teratasi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sempurna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melalui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konsep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otonomi</a:t>
            </a:r>
            <a:r>
              <a:rPr lang="en-ID" sz="3200" b="1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b="1" dirty="0" err="1">
                <a:solidFill>
                  <a:srgbClr val="1F2937"/>
                </a:solidFill>
                <a:latin typeface="Inter"/>
              </a:rPr>
              <a:t>lokal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ID" sz="3200" dirty="0" err="1">
                <a:solidFill>
                  <a:srgbClr val="1F2937"/>
                </a:solidFill>
                <a:latin typeface="Inter"/>
              </a:rPr>
              <a:t>Sinkronisasi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data multi-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cabang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terjamin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aman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dan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konsisten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lewat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middleware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asinkron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1-detik.</a:t>
            </a:r>
          </a:p>
          <a:p>
            <a:pPr>
              <a:spcAft>
                <a:spcPts val="1200"/>
              </a:spcAft>
            </a:pPr>
            <a:r>
              <a:rPr lang="en-ID" sz="3200" dirty="0" err="1">
                <a:solidFill>
                  <a:srgbClr val="1F2937"/>
                </a:solidFill>
                <a:latin typeface="Inter"/>
              </a:rPr>
              <a:t>Bebas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konflik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Primary Key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berkat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alokasi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 UUID </a:t>
            </a:r>
            <a:r>
              <a:rPr lang="en-ID" sz="3200" dirty="0" err="1">
                <a:solidFill>
                  <a:srgbClr val="1F2937"/>
                </a:solidFill>
                <a:latin typeface="Inter"/>
              </a:rPr>
              <a:t>terdistribusi</a:t>
            </a:r>
            <a:r>
              <a:rPr lang="en-ID" sz="3200" dirty="0">
                <a:solidFill>
                  <a:srgbClr val="1F2937"/>
                </a:solidFill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022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-625"/>
            <a:ext cx="14574774" cy="10285765"/>
          </a:xfrm>
          <a:custGeom>
            <a:avLst/>
            <a:gdLst/>
            <a:ahLst/>
            <a:cxnLst/>
            <a:rect l="l" t="t" r="r" b="b"/>
            <a:pathLst>
              <a:path w="15182056" h="10285765" extrusionOk="0">
                <a:moveTo>
                  <a:pt x="0" y="0"/>
                </a:moveTo>
                <a:lnTo>
                  <a:pt x="15182056" y="0"/>
                </a:lnTo>
                <a:lnTo>
                  <a:pt x="15182056" y="10285765"/>
                </a:lnTo>
                <a:lnTo>
                  <a:pt x="0" y="1028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6016" t="-2488" b="-3798"/>
            </a:stretch>
          </a:blipFill>
          <a:ln>
            <a:noFill/>
          </a:ln>
        </p:spPr>
      </p:sp>
      <p:grpSp>
        <p:nvGrpSpPr>
          <p:cNvPr id="295" name="Google Shape;295;p12"/>
          <p:cNvGrpSpPr/>
          <p:nvPr/>
        </p:nvGrpSpPr>
        <p:grpSpPr>
          <a:xfrm>
            <a:off x="0" y="9335141"/>
            <a:ext cx="18288000" cy="951859"/>
            <a:chOff x="0" y="-57150"/>
            <a:chExt cx="4816593" cy="250695"/>
          </a:xfrm>
        </p:grpSpPr>
        <p:sp>
          <p:nvSpPr>
            <p:cNvPr id="296" name="Google Shape;296;p12"/>
            <p:cNvSpPr/>
            <p:nvPr/>
          </p:nvSpPr>
          <p:spPr>
            <a:xfrm>
              <a:off x="0" y="0"/>
              <a:ext cx="4816592" cy="193545"/>
            </a:xfrm>
            <a:custGeom>
              <a:avLst/>
              <a:gdLst/>
              <a:ahLst/>
              <a:cxnLst/>
              <a:rect l="l" t="t" r="r" b="b"/>
              <a:pathLst>
                <a:path w="4816592" h="1935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EC582D"/>
            </a:solidFill>
            <a:ln>
              <a:noFill/>
            </a:ln>
          </p:spPr>
        </p:sp>
        <p:sp>
          <p:nvSpPr>
            <p:cNvPr id="297" name="Google Shape;297;p12"/>
            <p:cNvSpPr txBox="1"/>
            <p:nvPr/>
          </p:nvSpPr>
          <p:spPr>
            <a:xfrm>
              <a:off x="0" y="-57150"/>
              <a:ext cx="4816593" cy="250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2"/>
          <p:cNvSpPr/>
          <p:nvPr/>
        </p:nvSpPr>
        <p:spPr>
          <a:xfrm>
            <a:off x="13539900" y="136755"/>
            <a:ext cx="4494826" cy="1515697"/>
          </a:xfrm>
          <a:custGeom>
            <a:avLst/>
            <a:gdLst/>
            <a:ahLst/>
            <a:cxnLst/>
            <a:rect l="l" t="t" r="r" b="b"/>
            <a:pathLst>
              <a:path w="4494826" h="1515697" extrusionOk="0">
                <a:moveTo>
                  <a:pt x="0" y="0"/>
                </a:moveTo>
                <a:lnTo>
                  <a:pt x="4494826" y="0"/>
                </a:lnTo>
                <a:lnTo>
                  <a:pt x="4494826" y="1515697"/>
                </a:lnTo>
                <a:lnTo>
                  <a:pt x="0" y="1515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99" name="Google Shape;299;p12"/>
          <p:cNvGrpSpPr/>
          <p:nvPr/>
        </p:nvGrpSpPr>
        <p:grpSpPr>
          <a:xfrm>
            <a:off x="0" y="9550898"/>
            <a:ext cx="4881239" cy="734867"/>
            <a:chOff x="0" y="0"/>
            <a:chExt cx="1285594" cy="193545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0"/>
              <a:ext cx="1285594" cy="193545"/>
            </a:xfrm>
            <a:custGeom>
              <a:avLst/>
              <a:gdLst/>
              <a:ahLst/>
              <a:cxnLst/>
              <a:rect l="l" t="t" r="r" b="b"/>
              <a:pathLst>
                <a:path w="1285594" h="193545" extrusionOk="0">
                  <a:moveTo>
                    <a:pt x="0" y="0"/>
                  </a:moveTo>
                  <a:lnTo>
                    <a:pt x="1285594" y="0"/>
                  </a:lnTo>
                  <a:lnTo>
                    <a:pt x="1285594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257ABA"/>
            </a:solidFill>
            <a:ln>
              <a:noFill/>
            </a:ln>
          </p:spPr>
        </p:sp>
        <p:sp>
          <p:nvSpPr>
            <p:cNvPr id="301" name="Google Shape;301;p12"/>
            <p:cNvSpPr txBox="1"/>
            <p:nvPr/>
          </p:nvSpPr>
          <p:spPr>
            <a:xfrm>
              <a:off x="0" y="0"/>
              <a:ext cx="12855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fasilkom@esaunggul.ac.id</a:t>
              </a:r>
              <a:endParaRPr/>
            </a:p>
          </p:txBody>
        </p:sp>
      </p:grpSp>
      <p:sp>
        <p:nvSpPr>
          <p:cNvPr id="302" name="Google Shape;302;p12"/>
          <p:cNvSpPr txBox="1"/>
          <p:nvPr/>
        </p:nvSpPr>
        <p:spPr>
          <a:xfrm>
            <a:off x="7739595" y="4369348"/>
            <a:ext cx="9777600" cy="15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58" i="0" u="none" strike="noStrike" cap="none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2379</TotalTime>
  <Words>1724</Words>
  <Application>Microsoft Macintosh PowerPoint</Application>
  <PresentationFormat>Custom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Poppins Medium</vt:lpstr>
      <vt:lpstr>Inter</vt:lpstr>
      <vt:lpstr>Calibri</vt:lpstr>
      <vt:lpstr>Google Sans Text</vt:lpstr>
      <vt:lpstr>Poppins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Gusti Putu Wulandari</dc:creator>
  <cp:lastModifiedBy>adam bagaskara</cp:lastModifiedBy>
  <cp:revision>57</cp:revision>
  <dcterms:created xsi:type="dcterms:W3CDTF">2006-08-16T00:00:00Z</dcterms:created>
  <dcterms:modified xsi:type="dcterms:W3CDTF">2026-07-18T02:38:45Z</dcterms:modified>
</cp:coreProperties>
</file>